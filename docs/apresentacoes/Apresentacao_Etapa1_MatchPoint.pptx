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embeddedFontLst>
    <p:embeddedFont>
      <p:font typeface="Roboto" panose="02000000000000000000" pitchFamily="34" charset="0"/>
      <p:regular r:id="rId17"/>
      <p:bold r:id="rId18"/>
    </p:embeddedFont>
    <p:embeddedFont>
      <p:font typeface="Oswald" pitchFamily="34" charset="0"/>
      <p:regular r:id="rId19"/>
      <p:bold r:id="rId2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Apresentar o nome provisório MatchPoint e o objetivo da Etapa 1: requisitos, protótipo e decisões técnicas.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Público-alvo: professores de tênis com 5 a 50 alunos e os alunos ligados a eles.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Escopo do MVP. Chat, torneios e ranking global ficaram para depois (RFF01 a RFF06).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Ponto forte: as regras ficam no banco de dados, não só na tela. Mesmo forçando o envio, o banco recusa.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 que Supabase: login, banco, permissões por linha e tempo real prontos, no plano gratuito. O TypeScript vem das Edge Functions, não de "uma linguagem só": o Flutter usa Dart.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Aqui entra a demonstração ao vivo, com professor e aluno em duas janelas. Seguir o roteiro do guia de apresentação.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Turmas e alunos são o centro do modelo. O ranking não é tabela: é uma view (v_ranking) calculada das partidas confirmadas. Faltam as tabelas de RF20 a RF22 (anotações, conteúdos e atividades).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Parciais: RF01 e RF10 (sem tela de cadastro), RF02 (não cria turma), RF04 (não edita aula), RF07 (não escreve comentário), RF16 (só por código), RF17 (lista em vez de calendário), RF25 (sem push).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Item 4 vem da checagem cruzada: o arquivo de pesquisas ainda cita Python no backend e o diagrama de casos de uso ainda tem "Trocar mensagens".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3F5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12" y="1279922"/>
            <a:ext cx="10566577" cy="502819"/>
          </a:xfrm>
          <a:prstGeom prst="rect">
            <a:avLst/>
          </a:prstGeom>
          <a:noFill/>
          <a:ln/>
        </p:spPr>
        <p:txBody>
          <a:bodyPr wrap="square" lIns="0" tIns="0" rIns="0" bIns="0" rtlCol="0" anchor="t"/>
          <a:lstStyle>
            <a:lvl1pPr algn="l" indent="0" marL="0">
              <a:lnSpc>
                <a:spcPct val="115000"/>
              </a:lnSpc>
              <a:buNone/>
              <a:defRPr lang="en-US" sz="3600" dirty="0">
                <a:solidFill>
                  <a:srgbClr val="123524"/>
                </a:solidFill>
                <a:latin typeface="Oswald" pitchFamily="34" charset="0"/>
                <a:ea typeface="Oswald" pitchFamily="34" charset="-122"/>
                <a:cs typeface="Oswald"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712" y="2087540"/>
            <a:ext cx="10566488" cy="3957660"/>
          </a:xfrm>
          <a:prstGeom prst="rect">
            <a:avLst/>
          </a:prstGeom>
          <a:noFill/>
          <a:ln/>
        </p:spPr>
        <p:txBody>
          <a:bodyPr wrap="square" lIns="0" tIns="0" rIns="0" bIns="0" rtlCol="0" anchor="t"/>
          <a:lstStyle>
            <a:lvl1pPr algn="l" indent="0" marL="0">
              <a:lnSpc>
                <a:spcPct val="140000"/>
              </a:lnSpc>
              <a:buNone/>
              <a:defRPr lang="en-US" sz="1600" dirty="0">
                <a:solidFill>
                  <a:srgbClr val="123524"/>
                </a:solidFill>
                <a:latin typeface="Roboto" pitchFamily="34" charset="0"/>
                <a:ea typeface="Roboto" pitchFamily="34" charset="-122"/>
                <a:cs typeface="Robot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F5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12" y="1279922"/>
            <a:ext cx="10566577" cy="502819"/>
          </a:xfrm>
          <a:prstGeom prst="rect">
            <a:avLst/>
          </a:prstGeom>
          <a:noFill/>
          <a:ln/>
        </p:spPr>
        <p:txBody>
          <a:bodyPr wrap="square" lIns="0" tIns="0" rIns="0" bIns="0" rtlCol="0" anchor="t"/>
          <a:lstStyle>
            <a:lvl1pPr algn="l" indent="0" marL="0">
              <a:lnSpc>
                <a:spcPct val="115000"/>
              </a:lnSpc>
              <a:buNone/>
              <a:defRPr lang="en-US" sz="3600" dirty="0">
                <a:solidFill>
                  <a:srgbClr val="123524"/>
                </a:solidFill>
                <a:latin typeface="Oswald" pitchFamily="34" charset="0"/>
                <a:ea typeface="Oswald" pitchFamily="34" charset="-122"/>
                <a:cs typeface="Oswald"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712" y="2087540"/>
            <a:ext cx="10566488" cy="3957660"/>
          </a:xfrm>
          <a:prstGeom prst="rect">
            <a:avLst/>
          </a:prstGeom>
          <a:noFill/>
          <a:ln/>
        </p:spPr>
        <p:txBody>
          <a:bodyPr wrap="square" lIns="0" tIns="0" rIns="0" bIns="0" rtlCol="0" anchor="t"/>
          <a:lstStyle>
            <a:lvl1pPr algn="l" indent="0" marL="0">
              <a:lnSpc>
                <a:spcPct val="140000"/>
              </a:lnSpc>
              <a:buNone/>
              <a:defRPr lang="en-US" sz="1600" dirty="0">
                <a:solidFill>
                  <a:srgbClr val="123524"/>
                </a:solidFill>
                <a:latin typeface="Roboto" pitchFamily="34" charset="0"/>
                <a:ea typeface="Roboto" pitchFamily="34" charset="-122"/>
                <a:cs typeface="Roboto"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luizhenriqueperinif.github.io/Tennis_App/" TargetMode="Externa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slideLayout" Target="../slideLayouts/slideLayout2.xml"/><Relationship Id="rId1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524"/>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8509001" y="1270000"/>
            <a:ext cx="2794000" cy="2794000"/>
          </a:xfrm>
          <a:prstGeom prst="rect">
            <a:avLst/>
          </a:prstGeom>
        </p:spPr>
      </p:pic>
      <p:pic>
        <p:nvPicPr>
          <p:cNvPr id="3" name="Image 1" descr="ellipse">    </p:cNvPr>
          <p:cNvPicPr>
            <a:picLocks noChangeAspect="1"/>
          </p:cNvPicPr>
          <p:nvPr/>
        </p:nvPicPr>
        <p:blipFill>
          <a:blip r:embed="rId2"/>
          <a:srcRect l="0" r="0" t="0" b="0"/>
          <a:stretch/>
        </p:blipFill>
        <p:spPr>
          <a:xfrm>
            <a:off x="9334501" y="3937000"/>
            <a:ext cx="1270000" cy="1270000"/>
          </a:xfrm>
          <a:prstGeom prst="rect">
            <a:avLst/>
          </a:prstGeom>
        </p:spPr>
      </p:pic>
      <p:sp>
        <p:nvSpPr>
          <p:cNvPr id="4" name="Text 0"/>
          <p:cNvSpPr/>
          <p:nvPr/>
        </p:nvSpPr>
        <p:spPr>
          <a:xfrm>
            <a:off x="812712" y="2034646"/>
            <a:ext cx="10883574" cy="309827"/>
          </a:xfrm>
          <a:prstGeom prst="rect">
            <a:avLst/>
          </a:prstGeom>
          <a:noFill/>
          <a:ln/>
        </p:spPr>
        <p:txBody>
          <a:bodyPr wrap="square" lIns="0" tIns="0" rIns="0" bIns="0" rtlCol="0" anchor="t">
            <a:normAutofit/>
          </a:bodyPr>
          <a:lstStyle/>
          <a:p>
            <a:pPr algn="l" indent="0" marL="0">
              <a:lnSpc>
                <a:spcPts val="2240"/>
              </a:lnSpc>
              <a:buNone/>
            </a:pPr>
            <a:r>
              <a:rPr lang="en-US" sz="1600" b="1" spc="200" kern="0" dirty="0">
                <a:solidFill>
                  <a:srgbClr val="D7F05A"/>
                </a:solidFill>
                <a:latin typeface="Roboto" pitchFamily="34" charset="0"/>
                <a:ea typeface="Roboto" pitchFamily="34" charset="-122"/>
                <a:cs typeface="Roboto" pitchFamily="34" charset="-120"/>
              </a:rPr>
              <a:t>FATEC OLÍMPIA · DSM · ETAPA 1</a:t>
            </a:r>
            <a:endParaRPr lang="en-US" sz="1600" dirty="0"/>
          </a:p>
        </p:txBody>
      </p:sp>
      <p:sp>
        <p:nvSpPr>
          <p:cNvPr id="5" name="Text 1"/>
          <p:cNvSpPr/>
          <p:nvPr>
            <p:ph type="title"/>
          </p:nvPr>
        </p:nvSpPr>
        <p:spPr>
          <a:xfrm>
            <a:off x="812712" y="2573073"/>
            <a:ext cx="10883574" cy="1295400"/>
          </a:xfrm>
          <a:prstGeom prst="rect">
            <a:avLst/>
          </a:prstGeom>
          <a:noFill/>
          <a:ln/>
        </p:spPr>
        <p:txBody>
          <a:bodyPr wrap="square" lIns="0" tIns="0" rIns="0" bIns="0" rtlCol="0" anchor="t">
            <a:normAutofit/>
          </a:bodyPr>
          <a:lstStyle/>
          <a:p>
            <a:pPr algn="l" indent="0" marL="0">
              <a:lnSpc>
                <a:spcPts val="10000"/>
              </a:lnSpc>
              <a:buNone/>
            </a:pPr>
            <a:r>
              <a:rPr lang="en-US" sz="10000" b="1" i="0" dirty="0">
                <a:solidFill>
                  <a:srgbClr val="F3F5EE"/>
                </a:solidFill>
                <a:latin typeface="Oswald" pitchFamily="34" charset="0"/>
                <a:ea typeface="Oswald" pitchFamily="34" charset="-122"/>
                <a:cs typeface="Oswald" pitchFamily="34" charset="-120"/>
              </a:rPr>
              <a:t>MatchPoint</a:t>
            </a:r>
            <a:endParaRPr lang="en-US" sz="10000" dirty="0"/>
          </a:p>
        </p:txBody>
      </p:sp>
      <p:sp>
        <p:nvSpPr>
          <p:cNvPr id="6" name="Text 2"/>
          <p:cNvSpPr/>
          <p:nvPr/>
        </p:nvSpPr>
        <p:spPr>
          <a:xfrm>
            <a:off x="812712" y="4097073"/>
            <a:ext cx="7194550" cy="75168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C9D8CC"/>
                </a:solidFill>
                <a:latin typeface="Roboto" pitchFamily="34" charset="0"/>
                <a:ea typeface="Roboto" pitchFamily="34" charset="-122"/>
                <a:cs typeface="Roboto" pitchFamily="34" charset="-120"/>
              </a:rPr>
              <a:t>Gestão de aulas, desempenho e ranking para professores e alunos de tênis</a:t>
            </a:r>
            <a:endParaRPr lang="en-US" sz="2200" dirty="0"/>
          </a:p>
        </p:txBody>
      </p:sp>
      <p:sp>
        <p:nvSpPr>
          <p:cNvPr id="7" name="Text 3"/>
          <p:cNvSpPr/>
          <p:nvPr/>
        </p:nvSpPr>
        <p:spPr>
          <a:xfrm>
            <a:off x="812712" y="6238434"/>
            <a:ext cx="5886450" cy="2386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8CC"/>
                </a:solidFill>
                <a:latin typeface="Roboto" pitchFamily="34" charset="0"/>
                <a:ea typeface="Roboto" pitchFamily="34" charset="-122"/>
                <a:cs typeface="Roboto" pitchFamily="34" charset="-120"/>
              </a:rPr>
              <a:t>23 de outubro de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5EE"/>
        </a:solidFill>
      </p:bgPr>
    </p:bg>
    <p:spTree>
      <p:nvGrpSpPr>
        <p:cNvPr id="1" name=""/>
        <p:cNvGrpSpPr/>
        <p:nvPr/>
      </p:nvGrpSpPr>
      <p:grpSpPr>
        <a:xfrm>
          <a:off x="0" y="0"/>
          <a:ext cx="0" cy="0"/>
          <a:chOff x="0" y="0"/>
          <a:chExt cx="0" cy="0"/>
        </a:xfrm>
      </p:grpSpPr>
      <p:sp>
        <p:nvSpPr>
          <p:cNvPr id="2" name="Text 0"/>
          <p:cNvSpPr/>
          <p:nvPr/>
        </p:nvSpPr>
        <p:spPr>
          <a:xfrm>
            <a:off x="812712" y="812712"/>
            <a:ext cx="10883574" cy="23861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6F43"/>
                </a:solidFill>
                <a:latin typeface="Roboto" pitchFamily="34" charset="0"/>
                <a:ea typeface="Roboto" pitchFamily="34" charset="-122"/>
                <a:cs typeface="Roboto" pitchFamily="34" charset="-120"/>
              </a:rPr>
              <a:t>O PROBLEMA</a:t>
            </a:r>
            <a:endParaRPr lang="en-US" sz="1200" dirty="0"/>
          </a:p>
        </p:txBody>
      </p:sp>
      <p:sp>
        <p:nvSpPr>
          <p:cNvPr id="3" name="Text 1"/>
          <p:cNvSpPr/>
          <p:nvPr>
            <p:ph type="title"/>
          </p:nvPr>
        </p:nvSpPr>
        <p:spPr>
          <a:xfrm>
            <a:off x="812712" y="1330634"/>
            <a:ext cx="10883574" cy="103103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3524"/>
                </a:solidFill>
                <a:latin typeface="Oswald" pitchFamily="34" charset="0"/>
                <a:ea typeface="Oswald" pitchFamily="34" charset="-122"/>
                <a:cs typeface="Oswald" pitchFamily="34" charset="-120"/>
              </a:rPr>
              <a:t>Aulas de tênis ainda são organizadas no papel e no WhatsApp</a:t>
            </a:r>
            <a:endParaRPr lang="en-US" sz="3600" dirty="0"/>
          </a:p>
        </p:txBody>
      </p:sp>
      <p:sp>
        <p:nvSpPr>
          <p:cNvPr id="4" name="Text 2"/>
          <p:cNvSpPr/>
          <p:nvPr/>
        </p:nvSpPr>
        <p:spPr>
          <a:xfrm>
            <a:off x="812712" y="2640983"/>
            <a:ext cx="9156701"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A43"/>
                </a:solidFill>
                <a:latin typeface="Roboto" pitchFamily="34" charset="0"/>
                <a:ea typeface="Roboto" pitchFamily="34" charset="-122"/>
                <a:cs typeface="Roboto" pitchFamily="34" charset="-120"/>
              </a:rPr>
              <a:t>Professores controlam alunos, aulas, avaliações e partidas em papel, grupos de mensagem e planilhas.</a:t>
            </a:r>
            <a:endParaRPr lang="en-US" sz="1600" dirty="0"/>
          </a:p>
        </p:txBody>
      </p:sp>
      <p:sp>
        <p:nvSpPr>
          <p:cNvPr id="5" name="Shape 3"/>
          <p:cNvSpPr/>
          <p:nvPr/>
        </p:nvSpPr>
        <p:spPr>
          <a:xfrm>
            <a:off x="815887" y="3517724"/>
            <a:ext cx="3380317" cy="1775288"/>
          </a:xfrm>
          <a:prstGeom prst="roundRect">
            <a:avLst>
              <a:gd name="adj" fmla="val 6975"/>
            </a:avLst>
          </a:prstGeom>
          <a:solidFill>
            <a:srgbClr val="FBFCF8"/>
          </a:solidFill>
          <a:ln w="6350">
            <a:solidFill>
              <a:srgbClr val="D9E0D5"/>
            </a:solidFill>
            <a:prstDash val="solid"/>
          </a:ln>
        </p:spPr>
      </p:sp>
      <p:sp>
        <p:nvSpPr>
          <p:cNvPr id="6" name="Text 4"/>
          <p:cNvSpPr/>
          <p:nvPr/>
        </p:nvSpPr>
        <p:spPr>
          <a:xfrm>
            <a:off x="1073767" y="3775604"/>
            <a:ext cx="2950492" cy="360539"/>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1F6F43"/>
                </a:solidFill>
                <a:latin typeface="Oswald" pitchFamily="34" charset="0"/>
                <a:ea typeface="Oswald" pitchFamily="34" charset="-122"/>
                <a:cs typeface="Oswald" pitchFamily="34" charset="-120"/>
              </a:rPr>
              <a:t>Professor</a:t>
            </a:r>
            <a:endParaRPr lang="en-US" sz="2200" dirty="0"/>
          </a:p>
        </p:txBody>
      </p:sp>
      <p:sp>
        <p:nvSpPr>
          <p:cNvPr id="7" name="Text 5"/>
          <p:cNvSpPr/>
          <p:nvPr/>
        </p:nvSpPr>
        <p:spPr>
          <a:xfrm>
            <a:off x="1073767" y="4212278"/>
            <a:ext cx="2950492" cy="573969"/>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3E4A43"/>
                </a:solidFill>
                <a:latin typeface="Roboto" pitchFamily="34" charset="0"/>
                <a:ea typeface="Roboto" pitchFamily="34" charset="-122"/>
                <a:cs typeface="Roboto" pitchFamily="34" charset="-120"/>
              </a:rPr>
              <a:t>Agenda, presença e avaliações espalhadas em vários lugares</a:t>
            </a:r>
            <a:endParaRPr lang="en-US" sz="1600" dirty="0"/>
          </a:p>
        </p:txBody>
      </p:sp>
      <p:sp>
        <p:nvSpPr>
          <p:cNvPr id="8" name="Shape 6"/>
          <p:cNvSpPr/>
          <p:nvPr/>
        </p:nvSpPr>
        <p:spPr>
          <a:xfrm>
            <a:off x="4405731" y="3517724"/>
            <a:ext cx="3380427" cy="1775288"/>
          </a:xfrm>
          <a:prstGeom prst="roundRect">
            <a:avLst>
              <a:gd name="adj" fmla="val 6975"/>
            </a:avLst>
          </a:prstGeom>
          <a:solidFill>
            <a:srgbClr val="FBFCF8"/>
          </a:solidFill>
          <a:ln w="6350">
            <a:solidFill>
              <a:srgbClr val="D9E0D5"/>
            </a:solidFill>
            <a:prstDash val="solid"/>
          </a:ln>
        </p:spPr>
      </p:sp>
      <p:sp>
        <p:nvSpPr>
          <p:cNvPr id="9" name="Text 7"/>
          <p:cNvSpPr/>
          <p:nvPr/>
        </p:nvSpPr>
        <p:spPr>
          <a:xfrm>
            <a:off x="4663612" y="3775604"/>
            <a:ext cx="2950606" cy="360539"/>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1F6F43"/>
                </a:solidFill>
                <a:latin typeface="Oswald" pitchFamily="34" charset="0"/>
                <a:ea typeface="Oswald" pitchFamily="34" charset="-122"/>
                <a:cs typeface="Oswald" pitchFamily="34" charset="-120"/>
              </a:rPr>
              <a:t>Aluno</a:t>
            </a:r>
            <a:endParaRPr lang="en-US" sz="2200" dirty="0"/>
          </a:p>
        </p:txBody>
      </p:sp>
      <p:sp>
        <p:nvSpPr>
          <p:cNvPr id="10" name="Text 8"/>
          <p:cNvSpPr/>
          <p:nvPr/>
        </p:nvSpPr>
        <p:spPr>
          <a:xfrm>
            <a:off x="4663612" y="4212278"/>
            <a:ext cx="2950606" cy="848254"/>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3E4A43"/>
                </a:solidFill>
                <a:latin typeface="Roboto" pitchFamily="34" charset="0"/>
                <a:ea typeface="Roboto" pitchFamily="34" charset="-122"/>
                <a:cs typeface="Roboto" pitchFamily="34" charset="-120"/>
              </a:rPr>
              <a:t>Não sabe ao certo quando treina nem vê a própria evolução</a:t>
            </a:r>
            <a:endParaRPr lang="en-US" sz="1600" dirty="0"/>
          </a:p>
        </p:txBody>
      </p:sp>
      <p:sp>
        <p:nvSpPr>
          <p:cNvPr id="11" name="Shape 9"/>
          <p:cNvSpPr/>
          <p:nvPr/>
        </p:nvSpPr>
        <p:spPr>
          <a:xfrm>
            <a:off x="7995686" y="3517724"/>
            <a:ext cx="3380427" cy="1775288"/>
          </a:xfrm>
          <a:prstGeom prst="roundRect">
            <a:avLst>
              <a:gd name="adj" fmla="val 6975"/>
            </a:avLst>
          </a:prstGeom>
          <a:solidFill>
            <a:srgbClr val="FBFCF8"/>
          </a:solidFill>
          <a:ln w="6350">
            <a:solidFill>
              <a:srgbClr val="D9E0D5"/>
            </a:solidFill>
            <a:prstDash val="solid"/>
          </a:ln>
        </p:spPr>
      </p:sp>
      <p:sp>
        <p:nvSpPr>
          <p:cNvPr id="12" name="Text 10"/>
          <p:cNvSpPr/>
          <p:nvPr/>
        </p:nvSpPr>
        <p:spPr>
          <a:xfrm>
            <a:off x="8253568" y="3775604"/>
            <a:ext cx="2950606" cy="360539"/>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1F6F43"/>
                </a:solidFill>
                <a:latin typeface="Oswald" pitchFamily="34" charset="0"/>
                <a:ea typeface="Oswald" pitchFamily="34" charset="-122"/>
                <a:cs typeface="Oswald" pitchFamily="34" charset="-120"/>
              </a:rPr>
              <a:t>Turma</a:t>
            </a:r>
            <a:endParaRPr lang="en-US" sz="2200" dirty="0"/>
          </a:p>
        </p:txBody>
      </p:sp>
      <p:sp>
        <p:nvSpPr>
          <p:cNvPr id="13" name="Text 11"/>
          <p:cNvSpPr/>
          <p:nvPr/>
        </p:nvSpPr>
        <p:spPr>
          <a:xfrm>
            <a:off x="8253568" y="4212278"/>
            <a:ext cx="2950606" cy="573969"/>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3E4A43"/>
                </a:solidFill>
                <a:latin typeface="Roboto" pitchFamily="34" charset="0"/>
                <a:ea typeface="Roboto" pitchFamily="34" charset="-122"/>
                <a:cs typeface="Roboto" pitchFamily="34" charset="-120"/>
              </a:rPr>
              <a:t>Sem ranking nem desafios, falta motivação para continuar</a:t>
            </a:r>
            <a:endParaRPr lang="en-US" sz="1600" dirty="0"/>
          </a:p>
        </p:txBody>
      </p:sp>
      <p:sp>
        <p:nvSpPr>
          <p:cNvPr id="14" name="Text 12"/>
          <p:cNvSpPr/>
          <p:nvPr/>
        </p:nvSpPr>
        <p:spPr>
          <a:xfrm>
            <a:off x="812712" y="6238435"/>
            <a:ext cx="7848600" cy="2386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63"/>
                </a:solidFill>
                <a:latin typeface="Roboto" pitchFamily="34" charset="0"/>
                <a:ea typeface="Roboto" pitchFamily="34" charset="-122"/>
                <a:cs typeface="Roboto" pitchFamily="34" charset="-120"/>
              </a:rPr>
              <a:t>Fonte: Roadmap do projeto (setembro de 2026)</a:t>
            </a:r>
            <a:endParaRPr lang="en-US" sz="1200" dirty="0"/>
          </a:p>
        </p:txBody>
      </p:sp>
      <p:sp>
        <p:nvSpPr>
          <p:cNvPr id="15" name="Text 13"/>
          <p:cNvSpPr/>
          <p:nvPr/>
        </p:nvSpPr>
        <p:spPr>
          <a:xfrm>
            <a:off x="10566488" y="6238435"/>
            <a:ext cx="812800" cy="2386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63"/>
                </a:solidFill>
                <a:latin typeface="Roboto" pitchFamily="34" charset="0"/>
                <a:ea typeface="Roboto" pitchFamily="34" charset="-122"/>
                <a:cs typeface="Roboto"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5EE"/>
        </a:solidFill>
      </p:bgPr>
    </p:bg>
    <p:spTree>
      <p:nvGrpSpPr>
        <p:cNvPr id="1" name=""/>
        <p:cNvGrpSpPr/>
        <p:nvPr/>
      </p:nvGrpSpPr>
      <p:grpSpPr>
        <a:xfrm>
          <a:off x="0" y="0"/>
          <a:ext cx="0" cy="0"/>
          <a:chOff x="0" y="0"/>
          <a:chExt cx="0" cy="0"/>
        </a:xfrm>
      </p:grpSpPr>
      <p:sp>
        <p:nvSpPr>
          <p:cNvPr id="2" name="Text 0"/>
          <p:cNvSpPr/>
          <p:nvPr/>
        </p:nvSpPr>
        <p:spPr>
          <a:xfrm>
            <a:off x="812712" y="812713"/>
            <a:ext cx="10883574" cy="23861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6F43"/>
                </a:solidFill>
                <a:latin typeface="Roboto" pitchFamily="34" charset="0"/>
                <a:ea typeface="Roboto" pitchFamily="34" charset="-122"/>
                <a:cs typeface="Roboto" pitchFamily="34" charset="-120"/>
              </a:rPr>
              <a:t>A SOLUÇÃO</a:t>
            </a:r>
            <a:endParaRPr lang="en-US" sz="1200" dirty="0"/>
          </a:p>
        </p:txBody>
      </p:sp>
      <p:sp>
        <p:nvSpPr>
          <p:cNvPr id="3" name="Text 1"/>
          <p:cNvSpPr/>
          <p:nvPr>
            <p:ph type="title"/>
          </p:nvPr>
        </p:nvSpPr>
        <p:spPr>
          <a:xfrm>
            <a:off x="812712" y="1330635"/>
            <a:ext cx="10883574" cy="528219"/>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3524"/>
                </a:solidFill>
                <a:latin typeface="Oswald" pitchFamily="34" charset="0"/>
                <a:ea typeface="Oswald" pitchFamily="34" charset="-122"/>
                <a:cs typeface="Oswald" pitchFamily="34" charset="-120"/>
              </a:rPr>
              <a:t>Um app que organiza o professor e engaja o aluno</a:t>
            </a:r>
            <a:endParaRPr lang="en-US" sz="3600" dirty="0"/>
          </a:p>
        </p:txBody>
      </p:sp>
      <p:sp>
        <p:nvSpPr>
          <p:cNvPr id="4" name="Shape 2"/>
          <p:cNvSpPr/>
          <p:nvPr/>
        </p:nvSpPr>
        <p:spPr>
          <a:xfrm>
            <a:off x="812712" y="2138164"/>
            <a:ext cx="5174589" cy="2609233"/>
          </a:xfrm>
          <a:prstGeom prst="roundRect">
            <a:avLst>
              <a:gd name="adj" fmla="val 4867"/>
            </a:avLst>
          </a:prstGeom>
          <a:solidFill>
            <a:srgbClr val="123524"/>
          </a:solidFill>
          <a:ln/>
        </p:spPr>
      </p:sp>
      <p:sp>
        <p:nvSpPr>
          <p:cNvPr id="5" name="Text 3"/>
          <p:cNvSpPr/>
          <p:nvPr/>
        </p:nvSpPr>
        <p:spPr>
          <a:xfrm>
            <a:off x="1117424" y="2442877"/>
            <a:ext cx="4702120" cy="360539"/>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D7F05A"/>
                </a:solidFill>
                <a:latin typeface="Oswald" pitchFamily="34" charset="0"/>
                <a:ea typeface="Oswald" pitchFamily="34" charset="-122"/>
                <a:cs typeface="Oswald" pitchFamily="34" charset="-120"/>
              </a:rPr>
              <a:t>Para o professor</a:t>
            </a:r>
            <a:endParaRPr lang="en-US" sz="2200" dirty="0"/>
          </a:p>
        </p:txBody>
      </p:sp>
      <p:sp>
        <p:nvSpPr>
          <p:cNvPr id="6" name="Text 4"/>
          <p:cNvSpPr/>
          <p:nvPr/>
        </p:nvSpPr>
        <p:spPr>
          <a:xfrm>
            <a:off x="1187782" y="2905015"/>
            <a:ext cx="4624142" cy="1548959"/>
          </a:xfrm>
          <a:prstGeom prst="rect">
            <a:avLst/>
          </a:prstGeom>
          <a:noFill/>
          <a:ln/>
        </p:spPr>
        <p:txBody>
          <a:bodyPr wrap="square" lIns="0" tIns="0" rIns="0" bIns="0" rtlCol="0" anchor="t">
            <a:normAutofit/>
          </a:bodyPr>
          <a:lstStyle/>
          <a:p>
            <a:pPr algn="l" marL="183642" indent="-183642">
              <a:lnSpc>
                <a:spcPts val="2400"/>
              </a:lnSpc>
              <a:buSzPct val="100000"/>
              <a:buChar char="•"/>
            </a:pPr>
            <a:r>
              <a:rPr lang="en-US" sz="1600" dirty="0">
                <a:solidFill>
                  <a:srgbClr val="E6EEE4"/>
                </a:solidFill>
                <a:latin typeface="Roboto" pitchFamily="34" charset="0"/>
                <a:ea typeface="Roboto" pitchFamily="34" charset="-122"/>
                <a:cs typeface="Roboto" pitchFamily="34" charset="-120"/>
              </a:rPr>
              <a:t>Agenda de aulas com limite de vagas</a:t>
            </a:r>
            <a:endParaRPr lang="en-US" sz="1600" dirty="0"/>
          </a:p>
          <a:p>
            <a:pPr algn="l" marL="183642" indent="-183642">
              <a:lnSpc>
                <a:spcPts val="2400"/>
              </a:lnSpc>
              <a:buSzPct val="100000"/>
              <a:buChar char="•"/>
            </a:pPr>
            <a:r>
              <a:rPr lang="en-US" sz="1600" dirty="0">
                <a:solidFill>
                  <a:srgbClr val="E6EEE4"/>
                </a:solidFill>
                <a:latin typeface="Roboto" pitchFamily="34" charset="0"/>
                <a:ea typeface="Roboto" pitchFamily="34" charset="-122"/>
                <a:cs typeface="Roboto" pitchFamily="34" charset="-120"/>
              </a:rPr>
              <a:t>Lista de presença em tempo real</a:t>
            </a:r>
            <a:endParaRPr lang="en-US" sz="1600" dirty="0"/>
          </a:p>
          <a:p>
            <a:pPr algn="l" marL="183642" indent="-183642">
              <a:lnSpc>
                <a:spcPts val="2400"/>
              </a:lnSpc>
              <a:buSzPct val="100000"/>
              <a:buChar char="•"/>
            </a:pPr>
            <a:r>
              <a:rPr lang="en-US" sz="1600" dirty="0">
                <a:solidFill>
                  <a:srgbClr val="E6EEE4"/>
                </a:solidFill>
                <a:latin typeface="Roboto" pitchFamily="34" charset="0"/>
                <a:ea typeface="Roboto" pitchFamily="34" charset="-122"/>
                <a:cs typeface="Roboto" pitchFamily="34" charset="-120"/>
              </a:rPr>
              <a:t>Avaliação por fundamentos, de 1 a 5</a:t>
            </a:r>
            <a:endParaRPr lang="en-US" sz="1600" dirty="0"/>
          </a:p>
          <a:p>
            <a:pPr algn="l" marL="183642" indent="-183642">
              <a:lnSpc>
                <a:spcPts val="2400"/>
              </a:lnSpc>
              <a:buSzPct val="100000"/>
              <a:buChar char="•"/>
            </a:pPr>
            <a:r>
              <a:rPr lang="en-US" sz="1600" dirty="0">
                <a:solidFill>
                  <a:srgbClr val="E6EEE4"/>
                </a:solidFill>
                <a:latin typeface="Roboto" pitchFamily="34" charset="0"/>
                <a:ea typeface="Roboto" pitchFamily="34" charset="-122"/>
                <a:cs typeface="Roboto" pitchFamily="34" charset="-120"/>
              </a:rPr>
              <a:t>Convite de alunos por código</a:t>
            </a:r>
            <a:endParaRPr lang="en-US" sz="1600" dirty="0"/>
          </a:p>
          <a:p>
            <a:pPr algn="l" marL="183642" indent="-183642">
              <a:lnSpc>
                <a:spcPts val="2400"/>
              </a:lnSpc>
              <a:buSzPct val="100000"/>
              <a:buChar char="•"/>
            </a:pPr>
            <a:r>
              <a:rPr lang="en-US" sz="1600" dirty="0">
                <a:solidFill>
                  <a:srgbClr val="E6EEE4"/>
                </a:solidFill>
                <a:latin typeface="Roboto" pitchFamily="34" charset="0"/>
                <a:ea typeface="Roboto" pitchFamily="34" charset="-122"/>
                <a:cs typeface="Roboto" pitchFamily="34" charset="-120"/>
              </a:rPr>
              <a:t>Decisão de placares em disputa</a:t>
            </a:r>
            <a:endParaRPr lang="en-US" sz="1600" dirty="0"/>
          </a:p>
        </p:txBody>
      </p:sp>
      <p:sp>
        <p:nvSpPr>
          <p:cNvPr id="7" name="Shape 5"/>
          <p:cNvSpPr/>
          <p:nvPr/>
        </p:nvSpPr>
        <p:spPr>
          <a:xfrm>
            <a:off x="6193654" y="2141339"/>
            <a:ext cx="5182460" cy="2602883"/>
          </a:xfrm>
          <a:prstGeom prst="roundRect">
            <a:avLst>
              <a:gd name="adj" fmla="val 4757"/>
            </a:avLst>
          </a:prstGeom>
          <a:solidFill>
            <a:srgbClr val="FBFCF8"/>
          </a:solidFill>
          <a:ln w="6350">
            <a:solidFill>
              <a:srgbClr val="D9E0D5"/>
            </a:solidFill>
            <a:prstDash val="solid"/>
          </a:ln>
        </p:spPr>
      </p:sp>
      <p:sp>
        <p:nvSpPr>
          <p:cNvPr id="8" name="Text 6"/>
          <p:cNvSpPr/>
          <p:nvPr/>
        </p:nvSpPr>
        <p:spPr>
          <a:xfrm>
            <a:off x="6502246" y="2449933"/>
            <a:ext cx="4702233" cy="360539"/>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1F6F43"/>
                </a:solidFill>
                <a:latin typeface="Oswald" pitchFamily="34" charset="0"/>
                <a:ea typeface="Oswald" pitchFamily="34" charset="-122"/>
                <a:cs typeface="Oswald" pitchFamily="34" charset="-120"/>
              </a:rPr>
              <a:t>Para o aluno</a:t>
            </a:r>
            <a:endParaRPr lang="en-US" sz="2200" dirty="0"/>
          </a:p>
        </p:txBody>
      </p:sp>
      <p:sp>
        <p:nvSpPr>
          <p:cNvPr id="9" name="Text 7"/>
          <p:cNvSpPr/>
          <p:nvPr/>
        </p:nvSpPr>
        <p:spPr>
          <a:xfrm>
            <a:off x="6572604" y="2912072"/>
            <a:ext cx="4624255" cy="1548959"/>
          </a:xfrm>
          <a:prstGeom prst="rect">
            <a:avLst/>
          </a:prstGeom>
          <a:noFill/>
          <a:ln/>
        </p:spPr>
        <p:txBody>
          <a:bodyPr wrap="square" lIns="0" tIns="0" rIns="0" bIns="0" rtlCol="0" anchor="t">
            <a:normAutofit/>
          </a:bodyPr>
          <a:lstStyle/>
          <a:p>
            <a:pPr algn="l" marL="183642" indent="-183642">
              <a:lnSpc>
                <a:spcPts val="2400"/>
              </a:lnSpc>
              <a:buSzPct val="100000"/>
              <a:buChar char="•"/>
            </a:pPr>
            <a:r>
              <a:rPr lang="en-US" sz="1600" dirty="0">
                <a:solidFill>
                  <a:srgbClr val="3E4A43"/>
                </a:solidFill>
                <a:latin typeface="Roboto" pitchFamily="34" charset="0"/>
                <a:ea typeface="Roboto" pitchFamily="34" charset="-122"/>
                <a:cs typeface="Roboto" pitchFamily="34" charset="-120"/>
              </a:rPr>
              <a:t>Agenda e confirmação de presença</a:t>
            </a:r>
            <a:endParaRPr lang="en-US" sz="1600" dirty="0"/>
          </a:p>
          <a:p>
            <a:pPr algn="l" marL="183642" indent="-183642">
              <a:lnSpc>
                <a:spcPts val="2400"/>
              </a:lnSpc>
              <a:buSzPct val="100000"/>
              <a:buChar char="•"/>
            </a:pPr>
            <a:r>
              <a:rPr lang="en-US" sz="1600" dirty="0">
                <a:solidFill>
                  <a:srgbClr val="3E4A43"/>
                </a:solidFill>
                <a:latin typeface="Roboto" pitchFamily="34" charset="0"/>
                <a:ea typeface="Roboto" pitchFamily="34" charset="-122"/>
                <a:cs typeface="Roboto" pitchFamily="34" charset="-120"/>
              </a:rPr>
              <a:t>Avaliação e evolução por fundamento</a:t>
            </a:r>
            <a:endParaRPr lang="en-US" sz="1600" dirty="0"/>
          </a:p>
          <a:p>
            <a:pPr algn="l" marL="183642" indent="-183642">
              <a:lnSpc>
                <a:spcPts val="2400"/>
              </a:lnSpc>
              <a:buSzPct val="100000"/>
              <a:buChar char="•"/>
            </a:pPr>
            <a:r>
              <a:rPr lang="en-US" sz="1600" dirty="0">
                <a:solidFill>
                  <a:srgbClr val="3E4A43"/>
                </a:solidFill>
                <a:latin typeface="Roboto" pitchFamily="34" charset="0"/>
                <a:ea typeface="Roboto" pitchFamily="34" charset="-122"/>
                <a:cs typeface="Roboto" pitchFamily="34" charset="-120"/>
              </a:rPr>
              <a:t>Ranking da turma</a:t>
            </a:r>
            <a:endParaRPr lang="en-US" sz="1600" dirty="0"/>
          </a:p>
          <a:p>
            <a:pPr algn="l" marL="183642" indent="-183642">
              <a:lnSpc>
                <a:spcPts val="2400"/>
              </a:lnSpc>
              <a:buSzPct val="100000"/>
              <a:buChar char="•"/>
            </a:pPr>
            <a:r>
              <a:rPr lang="en-US" sz="1600" dirty="0">
                <a:solidFill>
                  <a:srgbClr val="3E4A43"/>
                </a:solidFill>
                <a:latin typeface="Roboto" pitchFamily="34" charset="0"/>
                <a:ea typeface="Roboto" pitchFamily="34" charset="-122"/>
                <a:cs typeface="Roboto" pitchFamily="34" charset="-120"/>
              </a:rPr>
              <a:t>Desafios e placares set a set</a:t>
            </a:r>
            <a:endParaRPr lang="en-US" sz="1600" dirty="0"/>
          </a:p>
          <a:p>
            <a:pPr algn="l" marL="183642" indent="-183642">
              <a:lnSpc>
                <a:spcPts val="2400"/>
              </a:lnSpc>
              <a:buSzPct val="100000"/>
              <a:buChar char="•"/>
            </a:pPr>
            <a:r>
              <a:rPr lang="en-US" sz="1600" dirty="0">
                <a:solidFill>
                  <a:srgbClr val="3E4A43"/>
                </a:solidFill>
                <a:latin typeface="Roboto" pitchFamily="34" charset="0"/>
                <a:ea typeface="Roboto" pitchFamily="34" charset="-122"/>
                <a:cs typeface="Roboto" pitchFamily="34" charset="-120"/>
              </a:rPr>
              <a:t>Entrada em turmas por código</a:t>
            </a:r>
            <a:endParaRPr lang="en-US" sz="1600" dirty="0"/>
          </a:p>
        </p:txBody>
      </p:sp>
      <p:sp>
        <p:nvSpPr>
          <p:cNvPr id="10" name="Text 8"/>
          <p:cNvSpPr/>
          <p:nvPr/>
        </p:nvSpPr>
        <p:spPr>
          <a:xfrm>
            <a:off x="10566488" y="6238435"/>
            <a:ext cx="812800" cy="2386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63"/>
                </a:solidFill>
                <a:latin typeface="Roboto" pitchFamily="34" charset="0"/>
                <a:ea typeface="Roboto" pitchFamily="34" charset="-122"/>
                <a:cs typeface="Roboto"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5EE"/>
        </a:solidFill>
      </p:bgPr>
    </p:bg>
    <p:spTree>
      <p:nvGrpSpPr>
        <p:cNvPr id="1" name=""/>
        <p:cNvGrpSpPr/>
        <p:nvPr/>
      </p:nvGrpSpPr>
      <p:grpSpPr>
        <a:xfrm>
          <a:off x="0" y="0"/>
          <a:ext cx="0" cy="0"/>
          <a:chOff x="0" y="0"/>
          <a:chExt cx="0" cy="0"/>
        </a:xfrm>
      </p:grpSpPr>
      <p:sp>
        <p:nvSpPr>
          <p:cNvPr id="2" name="Text 0"/>
          <p:cNvSpPr/>
          <p:nvPr/>
        </p:nvSpPr>
        <p:spPr>
          <a:xfrm>
            <a:off x="812712" y="812712"/>
            <a:ext cx="10883574" cy="23861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6F43"/>
                </a:solidFill>
                <a:latin typeface="Roboto" pitchFamily="34" charset="0"/>
                <a:ea typeface="Roboto" pitchFamily="34" charset="-122"/>
                <a:cs typeface="Roboto" pitchFamily="34" charset="-120"/>
              </a:rPr>
              <a:t>REGRAS DE NEGÓCIO</a:t>
            </a:r>
            <a:endParaRPr lang="en-US" sz="1200" dirty="0"/>
          </a:p>
        </p:txBody>
      </p:sp>
      <p:sp>
        <p:nvSpPr>
          <p:cNvPr id="3" name="Text 1"/>
          <p:cNvSpPr/>
          <p:nvPr>
            <p:ph type="title"/>
          </p:nvPr>
        </p:nvSpPr>
        <p:spPr>
          <a:xfrm>
            <a:off x="812712" y="1279922"/>
            <a:ext cx="10883574" cy="528219"/>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3524"/>
                </a:solidFill>
                <a:latin typeface="Oswald" pitchFamily="34" charset="0"/>
                <a:ea typeface="Oswald" pitchFamily="34" charset="-122"/>
                <a:cs typeface="Oswald" pitchFamily="34" charset="-120"/>
              </a:rPr>
              <a:t>As regras que o sistema garante</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9767" y="2043795"/>
          <a:ext cx="10559521" cy="3042708"/>
        </p:xfrm>
        <a:graphic>
          <a:graphicData uri="http://schemas.openxmlformats.org/drawingml/2006/table">
            <a:tbl>
              <a:tblPr/>
              <a:tblGrid>
                <a:gridCol w="1689523"/>
                <a:gridCol w="8869998"/>
              </a:tblGrid>
              <a:tr h="380339">
                <a:tc>
                  <a:txBody>
                    <a:bodyPr/>
                    <a:lstStyle/>
                    <a:p>
                      <a:pPr indent="0" marL="0">
                        <a:lnSpc>
                          <a:spcPts val="1960"/>
                        </a:lnSpc>
                        <a:buNone/>
                      </a:pPr>
                      <a:r>
                        <a:rPr lang="en-US" sz="1400" b="1" dirty="0">
                          <a:solidFill>
                            <a:srgbClr val="D7F05A"/>
                          </a:solidFill>
                          <a:latin typeface="Roboto" pitchFamily="34" charset="0"/>
                          <a:ea typeface="Roboto" pitchFamily="34" charset="-122"/>
                          <a:cs typeface="Roboto" pitchFamily="34" charset="-120"/>
                        </a:rPr>
                        <a:t>Regra</a:t>
                      </a:r>
                      <a:endParaRPr lang="en-US" sz="1400" dirty="0">
                        <a:latin typeface="Roboto" charset="0"/>
                        <a:ea typeface="Roboto" charset="0"/>
                        <a:cs typeface="Roboto" charset="0"/>
                      </a:endParaRPr>
                    </a:p>
                  </a:txBody>
                  <a:tcPr marL="62230" marR="62230" marT="62230" marB="62230" anchor="t">
                    <a:lnL w="12700" cap="flat" cmpd="sng" algn="ctr">
                      <a:solidFill>
                        <a:srgbClr val="C2C4BE"/>
                      </a:solidFill>
                      <a:prstDash val="solid"/>
                      <a:round/>
                      <a:headEnd type="none" w="med" len="med"/>
                      <a:tailEnd type="none" w="med" len="med"/>
                    </a:lnL>
                    <a:lnR w="12700" cap="flat" cmpd="sng" algn="ctr">
                      <a:solidFill>
                        <a:srgbClr val="122E20"/>
                      </a:solidFill>
                      <a:prstDash val="solid"/>
                      <a:round/>
                      <a:headEnd type="none" w="med" len="med"/>
                      <a:tailEnd type="none" w="med" len="med"/>
                    </a:lnR>
                    <a:lnT w="12700" cap="flat" cmpd="sng" algn="ctr">
                      <a:solidFill>
                        <a:srgbClr val="C2C4BE"/>
                      </a:solidFill>
                      <a:prstDash val="solid"/>
                      <a:round/>
                      <a:headEnd type="none" w="med" len="med"/>
                      <a:tailEnd type="none" w="med" len="med"/>
                    </a:lnT>
                    <a:lnB w="12700" cap="flat" cmpd="sng" algn="ctr">
                      <a:solidFill>
                        <a:srgbClr val="122E20"/>
                      </a:solidFill>
                      <a:prstDash val="solid"/>
                      <a:round/>
                      <a:headEnd type="none" w="med" len="med"/>
                      <a:tailEnd type="none" w="med" len="med"/>
                    </a:lnB>
                    <a:solidFill>
                      <a:srgbClr val="123524"/>
                    </a:solidFill>
                  </a:tcPr>
                </a:tc>
                <a:tc>
                  <a:txBody>
                    <a:bodyPr/>
                    <a:lstStyle/>
                    <a:p>
                      <a:pPr indent="0" marL="0">
                        <a:lnSpc>
                          <a:spcPts val="1960"/>
                        </a:lnSpc>
                        <a:buNone/>
                      </a:pPr>
                      <a:r>
                        <a:rPr lang="en-US" sz="1400" b="1" dirty="0">
                          <a:solidFill>
                            <a:srgbClr val="F3F5EE"/>
                          </a:solidFill>
                          <a:latin typeface="Roboto" pitchFamily="34" charset="0"/>
                          <a:ea typeface="Roboto" pitchFamily="34" charset="-122"/>
                          <a:cs typeface="Roboto" pitchFamily="34" charset="-120"/>
                        </a:rPr>
                        <a:t>O que acontece</a:t>
                      </a:r>
                      <a:endParaRPr lang="en-US" sz="1400" dirty="0">
                        <a:latin typeface="Roboto" charset="0"/>
                        <a:ea typeface="Roboto" charset="0"/>
                        <a:cs typeface="Roboto" charset="0"/>
                      </a:endParaRPr>
                    </a:p>
                  </a:txBody>
                  <a:tcPr marL="62230" marR="62230" marT="62230" marB="62230" anchor="t">
                    <a:lnL w="12700" cap="flat" cmpd="sng" algn="ctr">
                      <a:solidFill>
                        <a:srgbClr val="122E20"/>
                      </a:solidFill>
                      <a:prstDash val="solid"/>
                      <a:round/>
                      <a:headEnd type="none" w="med" len="med"/>
                      <a:tailEnd type="none" w="med" len="med"/>
                    </a:lnL>
                    <a:lnR w="12700" cap="flat" cmpd="sng" algn="ctr">
                      <a:solidFill>
                        <a:srgbClr val="122E20"/>
                      </a:solidFill>
                      <a:prstDash val="solid"/>
                      <a:round/>
                      <a:headEnd type="none" w="med" len="med"/>
                      <a:tailEnd type="none" w="med" len="med"/>
                    </a:lnR>
                    <a:lnT w="12700" cap="flat" cmpd="sng" algn="ctr">
                      <a:solidFill>
                        <a:srgbClr val="C2C4BE"/>
                      </a:solidFill>
                      <a:prstDash val="solid"/>
                      <a:round/>
                      <a:headEnd type="none" w="med" len="med"/>
                      <a:tailEnd type="none" w="med" len="med"/>
                    </a:lnT>
                    <a:lnB w="12700" cap="flat" cmpd="sng" algn="ctr">
                      <a:solidFill>
                        <a:srgbClr val="122E20"/>
                      </a:solidFill>
                      <a:prstDash val="solid"/>
                      <a:round/>
                      <a:headEnd type="none" w="med" len="med"/>
                      <a:tailEnd type="none" w="med" len="med"/>
                    </a:lnB>
                    <a:solidFill>
                      <a:srgbClr val="123524"/>
                    </a:solidFill>
                  </a:tcPr>
                </a:tc>
              </a:tr>
              <a:tr h="380339">
                <a:tc>
                  <a:txBody>
                    <a:bodyPr/>
                    <a:lstStyle/>
                    <a:p>
                      <a:pPr indent="0" marL="0">
                        <a:lnSpc>
                          <a:spcPts val="1960"/>
                        </a:lnSpc>
                        <a:buNone/>
                      </a:pPr>
                      <a:r>
                        <a:rPr lang="en-US" sz="1400" dirty="0">
                          <a:solidFill>
                            <a:srgbClr val="3E4A43"/>
                          </a:solidFill>
                          <a:latin typeface="Roboto" pitchFamily="34" charset="0"/>
                          <a:ea typeface="Roboto" pitchFamily="34" charset="-122"/>
                          <a:cs typeface="Roboto" pitchFamily="34" charset="-120"/>
                        </a:rPr>
                        <a:t>RN01</a:t>
                      </a:r>
                      <a:endParaRPr lang="en-US" sz="1400" dirty="0">
                        <a:latin typeface="Roboto" charset="0"/>
                        <a:ea typeface="Roboto" charset="0"/>
                        <a:cs typeface="Roboto" charset="0"/>
                      </a:endParaRPr>
                    </a:p>
                  </a:txBody>
                  <a:tcPr marL="62230" marR="62230" marT="62230" marB="62230" anchor="t">
                    <a:lnL w="12700" cap="flat" cmpd="sng" algn="ctr">
                      <a:solidFill>
                        <a:srgbClr val="C2C4BE"/>
                      </a:solidFill>
                      <a:prstDash val="solid"/>
                      <a:round/>
                      <a:headEnd type="none" w="med" len="med"/>
                      <a:tailEnd type="none" w="med" len="med"/>
                    </a:lnL>
                    <a:lnR w="12700" cap="flat" cmpd="sng" algn="ctr">
                      <a:solidFill>
                        <a:srgbClr val="C2C4BE"/>
                      </a:solidFill>
                      <a:prstDash val="solid"/>
                      <a:round/>
                      <a:headEnd type="none" w="med" len="med"/>
                      <a:tailEnd type="none" w="med" len="med"/>
                    </a:lnR>
                    <a:lnT w="12700" cap="flat" cmpd="sng" algn="ctr">
                      <a:solidFill>
                        <a:srgbClr val="122E20"/>
                      </a:solidFill>
                      <a:prstDash val="solid"/>
                      <a:round/>
                      <a:headEnd type="none" w="med" len="med"/>
                      <a:tailEnd type="none" w="med" len="med"/>
                    </a:lnT>
                    <a:lnB w="12700" cap="flat" cmpd="sng" algn="ctr">
                      <a:solidFill>
                        <a:srgbClr val="C2C4BE"/>
                      </a:solidFill>
                      <a:prstDash val="solid"/>
                      <a:round/>
                      <a:headEnd type="none" w="med" len="med"/>
                      <a:tailEnd type="none" w="med" len="med"/>
                    </a:lnB>
                  </a:tcPr>
                </a:tc>
                <a:tc>
                  <a:txBody>
                    <a:bodyPr/>
                    <a:lstStyle/>
                    <a:p>
                      <a:pPr indent="0" marL="0">
                        <a:lnSpc>
                          <a:spcPts val="1960"/>
                        </a:lnSpc>
                        <a:buNone/>
                      </a:pPr>
                      <a:r>
                        <a:rPr lang="en-US" sz="1400" dirty="0">
                          <a:solidFill>
                            <a:srgbClr val="3E4A43"/>
                          </a:solidFill>
                          <a:latin typeface="Roboto" pitchFamily="34" charset="0"/>
                          <a:ea typeface="Roboto" pitchFamily="34" charset="-122"/>
                          <a:cs typeface="Roboto" pitchFamily="34" charset="-120"/>
                        </a:rPr>
                        <a:t>Entrada por código de convite, sem aprovação. Vale 7 dias e pode ser revogado</a:t>
                      </a:r>
                      <a:endParaRPr lang="en-US" sz="1400" dirty="0">
                        <a:latin typeface="Roboto" charset="0"/>
                        <a:ea typeface="Roboto" charset="0"/>
                        <a:cs typeface="Roboto" charset="0"/>
                      </a:endParaRPr>
                    </a:p>
                  </a:txBody>
                  <a:tcPr marL="62230" marR="62230" marT="62230" marB="62230" anchor="t">
                    <a:lnL w="12700" cap="flat" cmpd="sng" algn="ctr">
                      <a:solidFill>
                        <a:srgbClr val="C2C4BE"/>
                      </a:solidFill>
                      <a:prstDash val="solid"/>
                      <a:round/>
                      <a:headEnd type="none" w="med" len="med"/>
                      <a:tailEnd type="none" w="med" len="med"/>
                    </a:lnL>
                    <a:lnR w="12700" cap="flat" cmpd="sng" algn="ctr">
                      <a:solidFill>
                        <a:srgbClr val="C2C4BE"/>
                      </a:solidFill>
                      <a:prstDash val="solid"/>
                      <a:round/>
                      <a:headEnd type="none" w="med" len="med"/>
                      <a:tailEnd type="none" w="med" len="med"/>
                    </a:lnR>
                    <a:lnT w="12700" cap="flat" cmpd="sng" algn="ctr">
                      <a:solidFill>
                        <a:srgbClr val="122E20"/>
                      </a:solidFill>
                      <a:prstDash val="solid"/>
                      <a:round/>
                      <a:headEnd type="none" w="med" len="med"/>
                      <a:tailEnd type="none" w="med" len="med"/>
                    </a:lnT>
                    <a:lnB w="12700" cap="flat" cmpd="sng" algn="ctr">
                      <a:solidFill>
                        <a:srgbClr val="C2C4BE"/>
                      </a:solidFill>
                      <a:prstDash val="solid"/>
                      <a:round/>
                      <a:headEnd type="none" w="med" len="med"/>
                      <a:tailEnd type="none" w="med" len="med"/>
                    </a:lnB>
                  </a:tcPr>
                </a:tc>
              </a:tr>
              <a:tr h="380339">
                <a:tc>
                  <a:txBody>
                    <a:bodyPr/>
                    <a:lstStyle/>
                    <a:p>
                      <a:pPr indent="0" marL="0">
                        <a:lnSpc>
                          <a:spcPts val="1960"/>
                        </a:lnSpc>
                        <a:buNone/>
                      </a:pPr>
                      <a:r>
                        <a:rPr lang="en-US" sz="1400" dirty="0">
                          <a:solidFill>
                            <a:srgbClr val="3E4A43"/>
                          </a:solidFill>
                          <a:latin typeface="Roboto" pitchFamily="34" charset="0"/>
                          <a:ea typeface="Roboto" pitchFamily="34" charset="-122"/>
                          <a:cs typeface="Roboto" pitchFamily="34" charset="-120"/>
                        </a:rPr>
                        <a:t>RN04</a:t>
                      </a:r>
                      <a:endParaRPr lang="en-US" sz="1400" dirty="0">
                        <a:latin typeface="Roboto" charset="0"/>
                        <a:ea typeface="Roboto" charset="0"/>
                        <a:cs typeface="Roboto" charset="0"/>
                      </a:endParaRPr>
                    </a:p>
                  </a:txBody>
                  <a:tcPr marL="62230" marR="62230" marT="62230" marB="62230" anchor="t">
                    <a:lnL w="12700" cap="flat" cmpd="sng" algn="ctr">
                      <a:solidFill>
                        <a:srgbClr val="C2C4BE"/>
                      </a:solidFill>
                      <a:prstDash val="solid"/>
                      <a:round/>
                      <a:headEnd type="none" w="med" len="med"/>
                      <a:tailEnd type="none" w="med" len="med"/>
                    </a:lnL>
                    <a:lnR w="12700" cap="flat" cmpd="sng" algn="ctr">
                      <a:solidFill>
                        <a:srgbClr val="B9BDB5"/>
                      </a:solidFill>
                      <a:prstDash val="solid"/>
                      <a:round/>
                      <a:headEnd type="none" w="med" len="med"/>
                      <a:tailEnd type="none" w="med" len="med"/>
                    </a:lnR>
                    <a:lnT w="12700" cap="flat" cmpd="sng" algn="ctr">
                      <a:solidFill>
                        <a:srgbClr val="C2C4BE"/>
                      </a:solidFill>
                      <a:prstDash val="solid"/>
                      <a:round/>
                      <a:headEnd type="none" w="med" len="med"/>
                      <a:tailEnd type="none" w="med" len="med"/>
                    </a:lnT>
                    <a:lnB w="12700" cap="flat" cmpd="sng" algn="ctr">
                      <a:solidFill>
                        <a:srgbClr val="B9BDB5"/>
                      </a:solidFill>
                      <a:prstDash val="solid"/>
                      <a:round/>
                      <a:headEnd type="none" w="med" len="med"/>
                      <a:tailEnd type="none" w="med" len="med"/>
                    </a:lnB>
                    <a:solidFill>
                      <a:srgbClr val="E8EDE3"/>
                    </a:solidFill>
                  </a:tcPr>
                </a:tc>
                <a:tc>
                  <a:txBody>
                    <a:bodyPr/>
                    <a:lstStyle/>
                    <a:p>
                      <a:pPr indent="0" marL="0">
                        <a:lnSpc>
                          <a:spcPts val="1960"/>
                        </a:lnSpc>
                        <a:buNone/>
                      </a:pPr>
                      <a:r>
                        <a:rPr lang="en-US" sz="1400" dirty="0">
                          <a:solidFill>
                            <a:srgbClr val="3E4A43"/>
                          </a:solidFill>
                          <a:latin typeface="Roboto" pitchFamily="34" charset="0"/>
                          <a:ea typeface="Roboto" pitchFamily="34" charset="-122"/>
                          <a:cs typeface="Roboto" pitchFamily="34" charset="-120"/>
                        </a:rPr>
                        <a:t>Desafio só entre alunos da mesma turma</a:t>
                      </a:r>
                      <a:endParaRPr lang="en-US" sz="1400" dirty="0">
                        <a:latin typeface="Roboto" charset="0"/>
                        <a:ea typeface="Roboto" charset="0"/>
                        <a:cs typeface="Roboto" charset="0"/>
                      </a:endParaRPr>
                    </a:p>
                  </a:txBody>
                  <a:tcPr marL="62230" marR="62230" marT="62230" marB="62230" anchor="t">
                    <a:lnL w="12700" cap="flat" cmpd="sng" algn="ctr">
                      <a:solidFill>
                        <a:srgbClr val="B9BDB5"/>
                      </a:solidFill>
                      <a:prstDash val="solid"/>
                      <a:round/>
                      <a:headEnd type="none" w="med" len="med"/>
                      <a:tailEnd type="none" w="med" len="med"/>
                    </a:lnL>
                    <a:lnR w="12700" cap="flat" cmpd="sng" algn="ctr">
                      <a:solidFill>
                        <a:srgbClr val="B9BDB5"/>
                      </a:solidFill>
                      <a:prstDash val="solid"/>
                      <a:round/>
                      <a:headEnd type="none" w="med" len="med"/>
                      <a:tailEnd type="none" w="med" len="med"/>
                    </a:lnR>
                    <a:lnT w="12700" cap="flat" cmpd="sng" algn="ctr">
                      <a:solidFill>
                        <a:srgbClr val="C2C4BE"/>
                      </a:solidFill>
                      <a:prstDash val="solid"/>
                      <a:round/>
                      <a:headEnd type="none" w="med" len="med"/>
                      <a:tailEnd type="none" w="med" len="med"/>
                    </a:lnT>
                    <a:lnB w="12700" cap="flat" cmpd="sng" algn="ctr">
                      <a:solidFill>
                        <a:srgbClr val="B9BDB5"/>
                      </a:solidFill>
                      <a:prstDash val="solid"/>
                      <a:round/>
                      <a:headEnd type="none" w="med" len="med"/>
                      <a:tailEnd type="none" w="med" len="med"/>
                    </a:lnB>
                    <a:solidFill>
                      <a:srgbClr val="E8EDE3"/>
                    </a:solidFill>
                  </a:tcPr>
                </a:tc>
              </a:tr>
              <a:tr h="380339">
                <a:tc>
                  <a:txBody>
                    <a:bodyPr/>
                    <a:lstStyle/>
                    <a:p>
                      <a:pPr indent="0" marL="0">
                        <a:lnSpc>
                          <a:spcPts val="1960"/>
                        </a:lnSpc>
                        <a:buNone/>
                      </a:pPr>
                      <a:r>
                        <a:rPr lang="en-US" sz="1400" dirty="0">
                          <a:solidFill>
                            <a:srgbClr val="3E4A43"/>
                          </a:solidFill>
                          <a:latin typeface="Roboto" pitchFamily="34" charset="0"/>
                          <a:ea typeface="Roboto" pitchFamily="34" charset="-122"/>
                          <a:cs typeface="Roboto" pitchFamily="34" charset="-120"/>
                        </a:rPr>
                        <a:t>RN05</a:t>
                      </a:r>
                      <a:endParaRPr lang="en-US" sz="1400" dirty="0">
                        <a:latin typeface="Roboto" charset="0"/>
                        <a:ea typeface="Roboto" charset="0"/>
                        <a:cs typeface="Roboto" charset="0"/>
                      </a:endParaRPr>
                    </a:p>
                  </a:txBody>
                  <a:tcPr marL="62230" marR="62230" marT="62230" marB="62230" anchor="t">
                    <a:lnL w="12700" cap="flat" cmpd="sng" algn="ctr">
                      <a:solidFill>
                        <a:srgbClr val="C2C4BE"/>
                      </a:solidFill>
                      <a:prstDash val="solid"/>
                      <a:round/>
                      <a:headEnd type="none" w="med" len="med"/>
                      <a:tailEnd type="none" w="med" len="med"/>
                    </a:lnL>
                    <a:lnR w="12700" cap="flat" cmpd="sng" algn="ctr">
                      <a:solidFill>
                        <a:srgbClr val="C2C4BE"/>
                      </a:solidFill>
                      <a:prstDash val="solid"/>
                      <a:round/>
                      <a:headEnd type="none" w="med" len="med"/>
                      <a:tailEnd type="none" w="med" len="med"/>
                    </a:lnR>
                    <a:lnT w="12700" cap="flat" cmpd="sng" algn="ctr">
                      <a:solidFill>
                        <a:srgbClr val="B9BDB5"/>
                      </a:solidFill>
                      <a:prstDash val="solid"/>
                      <a:round/>
                      <a:headEnd type="none" w="med" len="med"/>
                      <a:tailEnd type="none" w="med" len="med"/>
                    </a:lnT>
                    <a:lnB w="12700" cap="flat" cmpd="sng" algn="ctr">
                      <a:solidFill>
                        <a:srgbClr val="C2C4BE"/>
                      </a:solidFill>
                      <a:prstDash val="solid"/>
                      <a:round/>
                      <a:headEnd type="none" w="med" len="med"/>
                      <a:tailEnd type="none" w="med" len="med"/>
                    </a:lnB>
                  </a:tcPr>
                </a:tc>
                <a:tc>
                  <a:txBody>
                    <a:bodyPr/>
                    <a:lstStyle/>
                    <a:p>
                      <a:pPr indent="0" marL="0">
                        <a:lnSpc>
                          <a:spcPts val="1960"/>
                        </a:lnSpc>
                        <a:buNone/>
                      </a:pPr>
                      <a:r>
                        <a:rPr lang="en-US" sz="1400" dirty="0">
                          <a:solidFill>
                            <a:srgbClr val="3E4A43"/>
                          </a:solidFill>
                          <a:latin typeface="Roboto" pitchFamily="34" charset="0"/>
                          <a:ea typeface="Roboto" pitchFamily="34" charset="-122"/>
                          <a:cs typeface="Roboto" pitchFamily="34" charset="-120"/>
                        </a:rPr>
                        <a:t>O adversário tem 24h para confirmar ou contestar. Contestado, o professor decide</a:t>
                      </a:r>
                      <a:endParaRPr lang="en-US" sz="1400" dirty="0">
                        <a:latin typeface="Roboto" charset="0"/>
                        <a:ea typeface="Roboto" charset="0"/>
                        <a:cs typeface="Roboto" charset="0"/>
                      </a:endParaRPr>
                    </a:p>
                  </a:txBody>
                  <a:tcPr marL="62230" marR="62230" marT="62230" marB="62230" anchor="t">
                    <a:lnL w="12700" cap="flat" cmpd="sng" algn="ctr">
                      <a:solidFill>
                        <a:srgbClr val="C2C4BE"/>
                      </a:solidFill>
                      <a:prstDash val="solid"/>
                      <a:round/>
                      <a:headEnd type="none" w="med" len="med"/>
                      <a:tailEnd type="none" w="med" len="med"/>
                    </a:lnL>
                    <a:lnR w="12700" cap="flat" cmpd="sng" algn="ctr">
                      <a:solidFill>
                        <a:srgbClr val="C2C4BE"/>
                      </a:solidFill>
                      <a:prstDash val="solid"/>
                      <a:round/>
                      <a:headEnd type="none" w="med" len="med"/>
                      <a:tailEnd type="none" w="med" len="med"/>
                    </a:lnR>
                    <a:lnT w="12700" cap="flat" cmpd="sng" algn="ctr">
                      <a:solidFill>
                        <a:srgbClr val="B9BDB5"/>
                      </a:solidFill>
                      <a:prstDash val="solid"/>
                      <a:round/>
                      <a:headEnd type="none" w="med" len="med"/>
                      <a:tailEnd type="none" w="med" len="med"/>
                    </a:lnT>
                    <a:lnB w="12700" cap="flat" cmpd="sng" algn="ctr">
                      <a:solidFill>
                        <a:srgbClr val="C2C4BE"/>
                      </a:solidFill>
                      <a:prstDash val="solid"/>
                      <a:round/>
                      <a:headEnd type="none" w="med" len="med"/>
                      <a:tailEnd type="none" w="med" len="med"/>
                    </a:lnB>
                  </a:tcPr>
                </a:tc>
              </a:tr>
              <a:tr h="380339">
                <a:tc>
                  <a:txBody>
                    <a:bodyPr/>
                    <a:lstStyle/>
                    <a:p>
                      <a:pPr indent="0" marL="0">
                        <a:lnSpc>
                          <a:spcPts val="1960"/>
                        </a:lnSpc>
                        <a:buNone/>
                      </a:pPr>
                      <a:r>
                        <a:rPr lang="en-US" sz="1400" dirty="0">
                          <a:solidFill>
                            <a:srgbClr val="3E4A43"/>
                          </a:solidFill>
                          <a:latin typeface="Roboto" pitchFamily="34" charset="0"/>
                          <a:ea typeface="Roboto" pitchFamily="34" charset="-122"/>
                          <a:cs typeface="Roboto" pitchFamily="34" charset="-120"/>
                        </a:rPr>
                        <a:t>RN06</a:t>
                      </a:r>
                      <a:endParaRPr lang="en-US" sz="1400" dirty="0">
                        <a:latin typeface="Roboto" charset="0"/>
                        <a:ea typeface="Roboto" charset="0"/>
                        <a:cs typeface="Roboto" charset="0"/>
                      </a:endParaRPr>
                    </a:p>
                  </a:txBody>
                  <a:tcPr marL="62230" marR="62230" marT="62230" marB="62230" anchor="t">
                    <a:lnL w="12700" cap="flat" cmpd="sng" algn="ctr">
                      <a:solidFill>
                        <a:srgbClr val="C2C4BE"/>
                      </a:solidFill>
                      <a:prstDash val="solid"/>
                      <a:round/>
                      <a:headEnd type="none" w="med" len="med"/>
                      <a:tailEnd type="none" w="med" len="med"/>
                    </a:lnL>
                    <a:lnR w="12700" cap="flat" cmpd="sng" algn="ctr">
                      <a:solidFill>
                        <a:srgbClr val="B9BDB5"/>
                      </a:solidFill>
                      <a:prstDash val="solid"/>
                      <a:round/>
                      <a:headEnd type="none" w="med" len="med"/>
                      <a:tailEnd type="none" w="med" len="med"/>
                    </a:lnR>
                    <a:lnT w="12700" cap="flat" cmpd="sng" algn="ctr">
                      <a:solidFill>
                        <a:srgbClr val="C2C4BE"/>
                      </a:solidFill>
                      <a:prstDash val="solid"/>
                      <a:round/>
                      <a:headEnd type="none" w="med" len="med"/>
                      <a:tailEnd type="none" w="med" len="med"/>
                    </a:lnT>
                    <a:lnB w="12700" cap="flat" cmpd="sng" algn="ctr">
                      <a:solidFill>
                        <a:srgbClr val="B9BDB5"/>
                      </a:solidFill>
                      <a:prstDash val="solid"/>
                      <a:round/>
                      <a:headEnd type="none" w="med" len="med"/>
                      <a:tailEnd type="none" w="med" len="med"/>
                    </a:lnB>
                    <a:solidFill>
                      <a:srgbClr val="E8EDE3"/>
                    </a:solidFill>
                  </a:tcPr>
                </a:tc>
                <a:tc>
                  <a:txBody>
                    <a:bodyPr/>
                    <a:lstStyle/>
                    <a:p>
                      <a:pPr indent="0" marL="0">
                        <a:lnSpc>
                          <a:spcPts val="1960"/>
                        </a:lnSpc>
                        <a:buNone/>
                      </a:pPr>
                      <a:r>
                        <a:rPr lang="en-US" sz="1400" dirty="0">
                          <a:solidFill>
                            <a:srgbClr val="3E4A43"/>
                          </a:solidFill>
                          <a:latin typeface="Roboto" pitchFamily="34" charset="0"/>
                          <a:ea typeface="Roboto" pitchFamily="34" charset="-122"/>
                          <a:cs typeface="Roboto" pitchFamily="34" charset="-120"/>
                        </a:rPr>
                        <a:t>Presença confirmada ou cancelada até 4h antes da aula</a:t>
                      </a:r>
                      <a:endParaRPr lang="en-US" sz="1400" dirty="0">
                        <a:latin typeface="Roboto" charset="0"/>
                        <a:ea typeface="Roboto" charset="0"/>
                        <a:cs typeface="Roboto" charset="0"/>
                      </a:endParaRPr>
                    </a:p>
                  </a:txBody>
                  <a:tcPr marL="62230" marR="62230" marT="62230" marB="62230" anchor="t">
                    <a:lnL w="12700" cap="flat" cmpd="sng" algn="ctr">
                      <a:solidFill>
                        <a:srgbClr val="B9BDB5"/>
                      </a:solidFill>
                      <a:prstDash val="solid"/>
                      <a:round/>
                      <a:headEnd type="none" w="med" len="med"/>
                      <a:tailEnd type="none" w="med" len="med"/>
                    </a:lnL>
                    <a:lnR w="12700" cap="flat" cmpd="sng" algn="ctr">
                      <a:solidFill>
                        <a:srgbClr val="B9BDB5"/>
                      </a:solidFill>
                      <a:prstDash val="solid"/>
                      <a:round/>
                      <a:headEnd type="none" w="med" len="med"/>
                      <a:tailEnd type="none" w="med" len="med"/>
                    </a:lnR>
                    <a:lnT w="12700" cap="flat" cmpd="sng" algn="ctr">
                      <a:solidFill>
                        <a:srgbClr val="C2C4BE"/>
                      </a:solidFill>
                      <a:prstDash val="solid"/>
                      <a:round/>
                      <a:headEnd type="none" w="med" len="med"/>
                      <a:tailEnd type="none" w="med" len="med"/>
                    </a:lnT>
                    <a:lnB w="12700" cap="flat" cmpd="sng" algn="ctr">
                      <a:solidFill>
                        <a:srgbClr val="B9BDB5"/>
                      </a:solidFill>
                      <a:prstDash val="solid"/>
                      <a:round/>
                      <a:headEnd type="none" w="med" len="med"/>
                      <a:tailEnd type="none" w="med" len="med"/>
                    </a:lnB>
                    <a:solidFill>
                      <a:srgbClr val="E8EDE3"/>
                    </a:solidFill>
                  </a:tcPr>
                </a:tc>
              </a:tr>
              <a:tr h="380339">
                <a:tc>
                  <a:txBody>
                    <a:bodyPr/>
                    <a:lstStyle/>
                    <a:p>
                      <a:pPr indent="0" marL="0">
                        <a:lnSpc>
                          <a:spcPts val="1960"/>
                        </a:lnSpc>
                        <a:buNone/>
                      </a:pPr>
                      <a:r>
                        <a:rPr lang="en-US" sz="1400" dirty="0">
                          <a:solidFill>
                            <a:srgbClr val="3E4A43"/>
                          </a:solidFill>
                          <a:latin typeface="Roboto" pitchFamily="34" charset="0"/>
                          <a:ea typeface="Roboto" pitchFamily="34" charset="-122"/>
                          <a:cs typeface="Roboto" pitchFamily="34" charset="-120"/>
                        </a:rPr>
                        <a:t>RN07</a:t>
                      </a:r>
                      <a:endParaRPr lang="en-US" sz="1400" dirty="0">
                        <a:latin typeface="Roboto" charset="0"/>
                        <a:ea typeface="Roboto" charset="0"/>
                        <a:cs typeface="Roboto" charset="0"/>
                      </a:endParaRPr>
                    </a:p>
                  </a:txBody>
                  <a:tcPr marL="62230" marR="62230" marT="62230" marB="62230" anchor="t">
                    <a:lnL w="12700" cap="flat" cmpd="sng" algn="ctr">
                      <a:solidFill>
                        <a:srgbClr val="C2C4BE"/>
                      </a:solidFill>
                      <a:prstDash val="solid"/>
                      <a:round/>
                      <a:headEnd type="none" w="med" len="med"/>
                      <a:tailEnd type="none" w="med" len="med"/>
                    </a:lnL>
                    <a:lnR w="12700" cap="flat" cmpd="sng" algn="ctr">
                      <a:solidFill>
                        <a:srgbClr val="C2C4BE"/>
                      </a:solidFill>
                      <a:prstDash val="solid"/>
                      <a:round/>
                      <a:headEnd type="none" w="med" len="med"/>
                      <a:tailEnd type="none" w="med" len="med"/>
                    </a:lnR>
                    <a:lnT w="12700" cap="flat" cmpd="sng" algn="ctr">
                      <a:solidFill>
                        <a:srgbClr val="B9BDB5"/>
                      </a:solidFill>
                      <a:prstDash val="solid"/>
                      <a:round/>
                      <a:headEnd type="none" w="med" len="med"/>
                      <a:tailEnd type="none" w="med" len="med"/>
                    </a:lnT>
                    <a:lnB w="12700" cap="flat" cmpd="sng" algn="ctr">
                      <a:solidFill>
                        <a:srgbClr val="C2C4BE"/>
                      </a:solidFill>
                      <a:prstDash val="solid"/>
                      <a:round/>
                      <a:headEnd type="none" w="med" len="med"/>
                      <a:tailEnd type="none" w="med" len="med"/>
                    </a:lnB>
                  </a:tcPr>
                </a:tc>
                <a:tc>
                  <a:txBody>
                    <a:bodyPr/>
                    <a:lstStyle/>
                    <a:p>
                      <a:pPr indent="0" marL="0">
                        <a:lnSpc>
                          <a:spcPts val="1960"/>
                        </a:lnSpc>
                        <a:buNone/>
                      </a:pPr>
                      <a:r>
                        <a:rPr lang="en-US" sz="1400" dirty="0">
                          <a:solidFill>
                            <a:srgbClr val="3E4A43"/>
                          </a:solidFill>
                          <a:latin typeface="Roboto" pitchFamily="34" charset="0"/>
                          <a:ea typeface="Roboto" pitchFamily="34" charset="-122"/>
                          <a:cs typeface="Roboto" pitchFamily="34" charset="-120"/>
                        </a:rPr>
                        <a:t>No máximo 6 alunos por aula</a:t>
                      </a:r>
                      <a:endParaRPr lang="en-US" sz="1400" dirty="0">
                        <a:latin typeface="Roboto" charset="0"/>
                        <a:ea typeface="Roboto" charset="0"/>
                        <a:cs typeface="Roboto" charset="0"/>
                      </a:endParaRPr>
                    </a:p>
                  </a:txBody>
                  <a:tcPr marL="62230" marR="62230" marT="62230" marB="62230" anchor="t">
                    <a:lnL w="12700" cap="flat" cmpd="sng" algn="ctr">
                      <a:solidFill>
                        <a:srgbClr val="C2C4BE"/>
                      </a:solidFill>
                      <a:prstDash val="solid"/>
                      <a:round/>
                      <a:headEnd type="none" w="med" len="med"/>
                      <a:tailEnd type="none" w="med" len="med"/>
                    </a:lnL>
                    <a:lnR w="12700" cap="flat" cmpd="sng" algn="ctr">
                      <a:solidFill>
                        <a:srgbClr val="C2C4BE"/>
                      </a:solidFill>
                      <a:prstDash val="solid"/>
                      <a:round/>
                      <a:headEnd type="none" w="med" len="med"/>
                      <a:tailEnd type="none" w="med" len="med"/>
                    </a:lnR>
                    <a:lnT w="12700" cap="flat" cmpd="sng" algn="ctr">
                      <a:solidFill>
                        <a:srgbClr val="B9BDB5"/>
                      </a:solidFill>
                      <a:prstDash val="solid"/>
                      <a:round/>
                      <a:headEnd type="none" w="med" len="med"/>
                      <a:tailEnd type="none" w="med" len="med"/>
                    </a:lnT>
                    <a:lnB w="12700" cap="flat" cmpd="sng" algn="ctr">
                      <a:solidFill>
                        <a:srgbClr val="C2C4BE"/>
                      </a:solidFill>
                      <a:prstDash val="solid"/>
                      <a:round/>
                      <a:headEnd type="none" w="med" len="med"/>
                      <a:tailEnd type="none" w="med" len="med"/>
                    </a:lnB>
                  </a:tcPr>
                </a:tc>
              </a:tr>
              <a:tr h="380339">
                <a:tc>
                  <a:txBody>
                    <a:bodyPr/>
                    <a:lstStyle/>
                    <a:p>
                      <a:pPr indent="0" marL="0">
                        <a:lnSpc>
                          <a:spcPts val="1960"/>
                        </a:lnSpc>
                        <a:buNone/>
                      </a:pPr>
                      <a:r>
                        <a:rPr lang="en-US" sz="1400" dirty="0">
                          <a:solidFill>
                            <a:srgbClr val="3E4A43"/>
                          </a:solidFill>
                          <a:latin typeface="Roboto" pitchFamily="34" charset="0"/>
                          <a:ea typeface="Roboto" pitchFamily="34" charset="-122"/>
                          <a:cs typeface="Roboto" pitchFamily="34" charset="-120"/>
                        </a:rPr>
                        <a:t>RN08 e RN09</a:t>
                      </a:r>
                      <a:endParaRPr lang="en-US" sz="1400" dirty="0">
                        <a:latin typeface="Roboto" charset="0"/>
                        <a:ea typeface="Roboto" charset="0"/>
                        <a:cs typeface="Roboto" charset="0"/>
                      </a:endParaRPr>
                    </a:p>
                  </a:txBody>
                  <a:tcPr marL="62230" marR="62230" marT="62230" marB="62230" anchor="t">
                    <a:lnL w="12700" cap="flat" cmpd="sng" algn="ctr">
                      <a:solidFill>
                        <a:srgbClr val="C2C4BE"/>
                      </a:solidFill>
                      <a:prstDash val="solid"/>
                      <a:round/>
                      <a:headEnd type="none" w="med" len="med"/>
                      <a:tailEnd type="none" w="med" len="med"/>
                    </a:lnL>
                    <a:lnR w="12700" cap="flat" cmpd="sng" algn="ctr">
                      <a:solidFill>
                        <a:srgbClr val="B9BDB5"/>
                      </a:solidFill>
                      <a:prstDash val="solid"/>
                      <a:round/>
                      <a:headEnd type="none" w="med" len="med"/>
                      <a:tailEnd type="none" w="med" len="med"/>
                    </a:lnR>
                    <a:lnT w="12700" cap="flat" cmpd="sng" algn="ctr">
                      <a:solidFill>
                        <a:srgbClr val="C2C4BE"/>
                      </a:solidFill>
                      <a:prstDash val="solid"/>
                      <a:round/>
                      <a:headEnd type="none" w="med" len="med"/>
                      <a:tailEnd type="none" w="med" len="med"/>
                    </a:lnT>
                    <a:lnB w="12700" cap="flat" cmpd="sng" algn="ctr">
                      <a:solidFill>
                        <a:srgbClr val="B9BDB5"/>
                      </a:solidFill>
                      <a:prstDash val="solid"/>
                      <a:round/>
                      <a:headEnd type="none" w="med" len="med"/>
                      <a:tailEnd type="none" w="med" len="med"/>
                    </a:lnB>
                    <a:solidFill>
                      <a:srgbClr val="E8EDE3"/>
                    </a:solidFill>
                  </a:tcPr>
                </a:tc>
                <a:tc>
                  <a:txBody>
                    <a:bodyPr/>
                    <a:lstStyle/>
                    <a:p>
                      <a:pPr indent="0" marL="0">
                        <a:lnSpc>
                          <a:spcPts val="1960"/>
                        </a:lnSpc>
                        <a:buNone/>
                      </a:pPr>
                      <a:r>
                        <a:rPr lang="en-US" sz="1400" dirty="0">
                          <a:solidFill>
                            <a:srgbClr val="3E4A43"/>
                          </a:solidFill>
                          <a:latin typeface="Roboto" pitchFamily="34" charset="0"/>
                          <a:ea typeface="Roboto" pitchFamily="34" charset="-122"/>
                          <a:cs typeface="Roboto" pitchFamily="34" charset="-120"/>
                        </a:rPr>
                        <a:t>Vitória vale +10 e derrota 0. Só contam partidas confirmadas</a:t>
                      </a:r>
                      <a:endParaRPr lang="en-US" sz="1400" dirty="0">
                        <a:latin typeface="Roboto" charset="0"/>
                        <a:ea typeface="Roboto" charset="0"/>
                        <a:cs typeface="Roboto" charset="0"/>
                      </a:endParaRPr>
                    </a:p>
                  </a:txBody>
                  <a:tcPr marL="62230" marR="62230" marT="62230" marB="62230" anchor="t">
                    <a:lnL w="12700" cap="flat" cmpd="sng" algn="ctr">
                      <a:solidFill>
                        <a:srgbClr val="B9BDB5"/>
                      </a:solidFill>
                      <a:prstDash val="solid"/>
                      <a:round/>
                      <a:headEnd type="none" w="med" len="med"/>
                      <a:tailEnd type="none" w="med" len="med"/>
                    </a:lnL>
                    <a:lnR w="12700" cap="flat" cmpd="sng" algn="ctr">
                      <a:solidFill>
                        <a:srgbClr val="B9BDB5"/>
                      </a:solidFill>
                      <a:prstDash val="solid"/>
                      <a:round/>
                      <a:headEnd type="none" w="med" len="med"/>
                      <a:tailEnd type="none" w="med" len="med"/>
                    </a:lnR>
                    <a:lnT w="12700" cap="flat" cmpd="sng" algn="ctr">
                      <a:solidFill>
                        <a:srgbClr val="C2C4BE"/>
                      </a:solidFill>
                      <a:prstDash val="solid"/>
                      <a:round/>
                      <a:headEnd type="none" w="med" len="med"/>
                      <a:tailEnd type="none" w="med" len="med"/>
                    </a:lnT>
                    <a:lnB w="12700" cap="flat" cmpd="sng" algn="ctr">
                      <a:solidFill>
                        <a:srgbClr val="B9BDB5"/>
                      </a:solidFill>
                      <a:prstDash val="solid"/>
                      <a:round/>
                      <a:headEnd type="none" w="med" len="med"/>
                      <a:tailEnd type="none" w="med" len="med"/>
                    </a:lnB>
                    <a:solidFill>
                      <a:srgbClr val="E8EDE3"/>
                    </a:solidFill>
                  </a:tcPr>
                </a:tc>
              </a:tr>
              <a:tr h="380339">
                <a:tc>
                  <a:txBody>
                    <a:bodyPr/>
                    <a:lstStyle/>
                    <a:p>
                      <a:pPr indent="0" marL="0">
                        <a:lnSpc>
                          <a:spcPts val="1960"/>
                        </a:lnSpc>
                        <a:buNone/>
                      </a:pPr>
                      <a:r>
                        <a:rPr lang="en-US" sz="1400" dirty="0">
                          <a:solidFill>
                            <a:srgbClr val="3E4A43"/>
                          </a:solidFill>
                          <a:latin typeface="Roboto" pitchFamily="34" charset="0"/>
                          <a:ea typeface="Roboto" pitchFamily="34" charset="-122"/>
                          <a:cs typeface="Roboto" pitchFamily="34" charset="-120"/>
                        </a:rPr>
                        <a:t>RN10</a:t>
                      </a:r>
                      <a:endParaRPr lang="en-US" sz="1400" dirty="0">
                        <a:latin typeface="Roboto" charset="0"/>
                        <a:ea typeface="Roboto" charset="0"/>
                        <a:cs typeface="Roboto" charset="0"/>
                      </a:endParaRPr>
                    </a:p>
                  </a:txBody>
                  <a:tcPr marL="62230" marR="62230" marT="62230" marB="62230" anchor="t">
                    <a:lnL w="12700" cap="flat" cmpd="sng" algn="ctr">
                      <a:solidFill>
                        <a:srgbClr val="C2C4BE"/>
                      </a:solidFill>
                      <a:prstDash val="solid"/>
                      <a:round/>
                      <a:headEnd type="none" w="med" len="med"/>
                      <a:tailEnd type="none" w="med" len="med"/>
                    </a:lnL>
                    <a:lnR w="12700" cap="flat" cmpd="sng" algn="ctr">
                      <a:solidFill>
                        <a:srgbClr val="C2C4BE"/>
                      </a:solidFill>
                      <a:prstDash val="solid"/>
                      <a:round/>
                      <a:headEnd type="none" w="med" len="med"/>
                      <a:tailEnd type="none" w="med" len="med"/>
                    </a:lnR>
                    <a:lnT w="12700" cap="flat" cmpd="sng" algn="ctr">
                      <a:solidFill>
                        <a:srgbClr val="B9BDB5"/>
                      </a:solidFill>
                      <a:prstDash val="solid"/>
                      <a:round/>
                      <a:headEnd type="none" w="med" len="med"/>
                      <a:tailEnd type="none" w="med" len="med"/>
                    </a:lnT>
                    <a:lnB w="12700" cap="flat" cmpd="sng" algn="ctr">
                      <a:solidFill>
                        <a:srgbClr val="C2C4BE"/>
                      </a:solidFill>
                      <a:prstDash val="solid"/>
                      <a:round/>
                      <a:headEnd type="none" w="med" len="med"/>
                      <a:tailEnd type="none" w="med" len="med"/>
                    </a:lnB>
                  </a:tcPr>
                </a:tc>
                <a:tc>
                  <a:txBody>
                    <a:bodyPr/>
                    <a:lstStyle/>
                    <a:p>
                      <a:pPr indent="0" marL="0">
                        <a:lnSpc>
                          <a:spcPts val="1960"/>
                        </a:lnSpc>
                        <a:buNone/>
                      </a:pPr>
                      <a:r>
                        <a:rPr lang="en-US" sz="1400" dirty="0">
                          <a:solidFill>
                            <a:srgbClr val="3E4A43"/>
                          </a:solidFill>
                          <a:latin typeface="Roboto" pitchFamily="34" charset="0"/>
                          <a:ea typeface="Roboto" pitchFamily="34" charset="-122"/>
                          <a:cs typeface="Roboto" pitchFamily="34" charset="-120"/>
                        </a:rPr>
                        <a:t>O professor pode lançar o placar direto</a:t>
                      </a:r>
                      <a:endParaRPr lang="en-US" sz="1400" dirty="0">
                        <a:latin typeface="Roboto" charset="0"/>
                        <a:ea typeface="Roboto" charset="0"/>
                        <a:cs typeface="Roboto" charset="0"/>
                      </a:endParaRPr>
                    </a:p>
                  </a:txBody>
                  <a:tcPr marL="62230" marR="62230" marT="62230" marB="62230" anchor="t">
                    <a:lnL w="12700" cap="flat" cmpd="sng" algn="ctr">
                      <a:solidFill>
                        <a:srgbClr val="C2C4BE"/>
                      </a:solidFill>
                      <a:prstDash val="solid"/>
                      <a:round/>
                      <a:headEnd type="none" w="med" len="med"/>
                      <a:tailEnd type="none" w="med" len="med"/>
                    </a:lnL>
                    <a:lnR w="12700" cap="flat" cmpd="sng" algn="ctr">
                      <a:solidFill>
                        <a:srgbClr val="C2C4BE"/>
                      </a:solidFill>
                      <a:prstDash val="solid"/>
                      <a:round/>
                      <a:headEnd type="none" w="med" len="med"/>
                      <a:tailEnd type="none" w="med" len="med"/>
                    </a:lnR>
                    <a:lnT w="12700" cap="flat" cmpd="sng" algn="ctr">
                      <a:solidFill>
                        <a:srgbClr val="B9BDB5"/>
                      </a:solidFill>
                      <a:prstDash val="solid"/>
                      <a:round/>
                      <a:headEnd type="none" w="med" len="med"/>
                      <a:tailEnd type="none" w="med" len="med"/>
                    </a:lnT>
                    <a:lnB w="12700" cap="flat" cmpd="sng" algn="ctr">
                      <a:solidFill>
                        <a:srgbClr val="C2C4BE"/>
                      </a:solidFill>
                      <a:prstDash val="solid"/>
                      <a:round/>
                      <a:headEnd type="none" w="med" len="med"/>
                      <a:tailEnd type="none" w="med" len="med"/>
                    </a:lnB>
                  </a:tcPr>
                </a:tc>
              </a:tr>
            </a:tbl>
          </a:graphicData>
        </a:graphic>
      </p:graphicFrame>
      <p:sp>
        <p:nvSpPr>
          <p:cNvPr id="5" name="Text 2"/>
          <p:cNvSpPr/>
          <p:nvPr/>
        </p:nvSpPr>
        <p:spPr>
          <a:xfrm>
            <a:off x="812712" y="6238433"/>
            <a:ext cx="8502651" cy="2386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63"/>
                </a:solidFill>
                <a:latin typeface="Roboto" pitchFamily="34" charset="0"/>
                <a:ea typeface="Roboto" pitchFamily="34" charset="-122"/>
                <a:cs typeface="Roboto" pitchFamily="34" charset="-120"/>
              </a:rPr>
              <a:t>Fonte: Requisitos e Regras de Negócio (Biel e Túlio, 13/10)</a:t>
            </a:r>
            <a:endParaRPr lang="en-US" sz="1200" dirty="0"/>
          </a:p>
        </p:txBody>
      </p:sp>
      <p:sp>
        <p:nvSpPr>
          <p:cNvPr id="6" name="Text 3"/>
          <p:cNvSpPr/>
          <p:nvPr/>
        </p:nvSpPr>
        <p:spPr>
          <a:xfrm>
            <a:off x="10566488" y="6238433"/>
            <a:ext cx="812800" cy="2386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63"/>
                </a:solidFill>
                <a:latin typeface="Roboto" pitchFamily="34" charset="0"/>
                <a:ea typeface="Roboto" pitchFamily="34" charset="-122"/>
                <a:cs typeface="Roboto"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5EE"/>
        </a:solidFill>
      </p:bgPr>
    </p:bg>
    <p:spTree>
      <p:nvGrpSpPr>
        <p:cNvPr id="1" name=""/>
        <p:cNvGrpSpPr/>
        <p:nvPr/>
      </p:nvGrpSpPr>
      <p:grpSpPr>
        <a:xfrm>
          <a:off x="0" y="0"/>
          <a:ext cx="0" cy="0"/>
          <a:chOff x="0" y="0"/>
          <a:chExt cx="0" cy="0"/>
        </a:xfrm>
      </p:grpSpPr>
      <p:sp>
        <p:nvSpPr>
          <p:cNvPr id="2" name="Text 0"/>
          <p:cNvSpPr/>
          <p:nvPr/>
        </p:nvSpPr>
        <p:spPr>
          <a:xfrm>
            <a:off x="812712" y="812713"/>
            <a:ext cx="10883574" cy="23861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6F43"/>
                </a:solidFill>
                <a:latin typeface="Roboto" pitchFamily="34" charset="0"/>
                <a:ea typeface="Roboto" pitchFamily="34" charset="-122"/>
                <a:cs typeface="Roboto" pitchFamily="34" charset="-120"/>
              </a:rPr>
              <a:t>ARQUITETURA</a:t>
            </a:r>
            <a:endParaRPr lang="en-US" sz="1200" dirty="0"/>
          </a:p>
        </p:txBody>
      </p:sp>
      <p:sp>
        <p:nvSpPr>
          <p:cNvPr id="3" name="Text 1"/>
          <p:cNvSpPr/>
          <p:nvPr>
            <p:ph type="title"/>
          </p:nvPr>
        </p:nvSpPr>
        <p:spPr>
          <a:xfrm>
            <a:off x="812712" y="1178278"/>
            <a:ext cx="10883574" cy="528219"/>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3524"/>
                </a:solidFill>
                <a:latin typeface="Oswald" pitchFamily="34" charset="0"/>
                <a:ea typeface="Oswald" pitchFamily="34" charset="-122"/>
                <a:cs typeface="Oswald" pitchFamily="34" charset="-120"/>
              </a:rPr>
              <a:t>Telas no aparelho, dados e regras no Supabase</a:t>
            </a:r>
            <a:endParaRPr lang="en-US" sz="3600" dirty="0"/>
          </a:p>
        </p:txBody>
      </p:sp>
      <p:sp>
        <p:nvSpPr>
          <p:cNvPr id="4" name="Shape 2"/>
          <p:cNvSpPr/>
          <p:nvPr/>
        </p:nvSpPr>
        <p:spPr>
          <a:xfrm>
            <a:off x="819062" y="2419350"/>
            <a:ext cx="3035300" cy="1384300"/>
          </a:xfrm>
          <a:prstGeom prst="roundRect">
            <a:avLst>
              <a:gd name="adj" fmla="val 8716"/>
            </a:avLst>
          </a:prstGeom>
          <a:solidFill>
            <a:srgbClr val="FBFCF8"/>
          </a:solidFill>
          <a:ln w="12700">
            <a:solidFill>
              <a:srgbClr val="1F6F43"/>
            </a:solidFill>
            <a:prstDash val="solid"/>
          </a:ln>
        </p:spPr>
      </p:sp>
      <p:sp>
        <p:nvSpPr>
          <p:cNvPr id="5" name="Text 3"/>
          <p:cNvSpPr/>
          <p:nvPr/>
        </p:nvSpPr>
        <p:spPr>
          <a:xfrm>
            <a:off x="1022945" y="2681002"/>
            <a:ext cx="2706359" cy="330112"/>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123524"/>
                </a:solidFill>
                <a:latin typeface="Oswald" pitchFamily="34" charset="0"/>
                <a:ea typeface="Oswald" pitchFamily="34" charset="-122"/>
                <a:cs typeface="Oswald" pitchFamily="34" charset="-120"/>
              </a:rPr>
              <a:t>Site do protótipo</a:t>
            </a:r>
            <a:endParaRPr lang="en-US" sz="2000" dirty="0"/>
          </a:p>
        </p:txBody>
      </p:sp>
      <p:sp>
        <p:nvSpPr>
          <p:cNvPr id="6" name="Text 4"/>
          <p:cNvSpPr/>
          <p:nvPr/>
        </p:nvSpPr>
        <p:spPr>
          <a:xfrm>
            <a:off x="1022945" y="3061891"/>
            <a:ext cx="2706359" cy="505398"/>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E4A43"/>
                </a:solidFill>
                <a:latin typeface="Roboto" pitchFamily="34" charset="0"/>
                <a:ea typeface="Roboto" pitchFamily="34" charset="-122"/>
                <a:cs typeface="Roboto" pitchFamily="34" charset="-120"/>
              </a:rPr>
              <a:t>HTML, CSS e JavaScript no GitHub Pages</a:t>
            </a:r>
            <a:endParaRPr lang="en-US" sz="1400" dirty="0"/>
          </a:p>
        </p:txBody>
      </p:sp>
      <p:sp>
        <p:nvSpPr>
          <p:cNvPr id="7" name="Shape 5"/>
          <p:cNvSpPr/>
          <p:nvPr/>
        </p:nvSpPr>
        <p:spPr>
          <a:xfrm>
            <a:off x="819062" y="4197350"/>
            <a:ext cx="3035300" cy="1384300"/>
          </a:xfrm>
          <a:prstGeom prst="roundRect">
            <a:avLst>
              <a:gd name="adj" fmla="val 8716"/>
            </a:avLst>
          </a:prstGeom>
          <a:solidFill>
            <a:srgbClr val="FBFCF8"/>
          </a:solidFill>
          <a:ln w="12700">
            <a:solidFill>
              <a:srgbClr val="1F6F43"/>
            </a:solidFill>
            <a:prstDash val="dash"/>
          </a:ln>
        </p:spPr>
      </p:sp>
      <p:sp>
        <p:nvSpPr>
          <p:cNvPr id="8" name="Text 6"/>
          <p:cNvSpPr/>
          <p:nvPr/>
        </p:nvSpPr>
        <p:spPr>
          <a:xfrm>
            <a:off x="1022945" y="4579057"/>
            <a:ext cx="2706359" cy="330112"/>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123524"/>
                </a:solidFill>
                <a:latin typeface="Oswald" pitchFamily="34" charset="0"/>
                <a:ea typeface="Oswald" pitchFamily="34" charset="-122"/>
                <a:cs typeface="Oswald" pitchFamily="34" charset="-120"/>
              </a:rPr>
              <a:t>App Flutter</a:t>
            </a:r>
            <a:endParaRPr lang="en-US" sz="2000" dirty="0"/>
          </a:p>
        </p:txBody>
      </p:sp>
      <p:sp>
        <p:nvSpPr>
          <p:cNvPr id="9" name="Text 7"/>
          <p:cNvSpPr/>
          <p:nvPr/>
        </p:nvSpPr>
        <p:spPr>
          <a:xfrm>
            <a:off x="1022945" y="4959945"/>
            <a:ext cx="2825067" cy="265399"/>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E4A43"/>
                </a:solidFill>
                <a:latin typeface="Roboto" pitchFamily="34" charset="0"/>
                <a:ea typeface="Roboto" pitchFamily="34" charset="-122"/>
                <a:cs typeface="Roboto" pitchFamily="34" charset="-120"/>
              </a:rPr>
              <a:t>Android e iOS, a partir da Etapa 2</a:t>
            </a:r>
            <a:endParaRPr lang="en-US" sz="1400" dirty="0"/>
          </a:p>
        </p:txBody>
      </p:sp>
      <p:pic>
        <p:nvPicPr>
          <p:cNvPr id="10" name="Image 0" descr="connector">    </p:cNvPr>
          <p:cNvPicPr>
            <a:picLocks noChangeAspect="1"/>
          </p:cNvPicPr>
          <p:nvPr/>
        </p:nvPicPr>
        <p:blipFill>
          <a:blip r:embed="rId1"/>
          <a:srcRect l="0" r="0" t="0" b="0"/>
          <a:stretch/>
        </p:blipFill>
        <p:spPr>
          <a:xfrm>
            <a:off x="3797212" y="3048000"/>
            <a:ext cx="1651000" cy="127000"/>
          </a:xfrm>
          <a:prstGeom prst="rect">
            <a:avLst/>
          </a:prstGeom>
        </p:spPr>
      </p:pic>
      <p:pic>
        <p:nvPicPr>
          <p:cNvPr id="11" name="Image 1" descr="connector">    </p:cNvPr>
          <p:cNvPicPr>
            <a:picLocks noChangeAspect="1"/>
          </p:cNvPicPr>
          <p:nvPr/>
        </p:nvPicPr>
        <p:blipFill>
          <a:blip r:embed="rId2"/>
          <a:srcRect l="0" r="0" t="0" b="0"/>
          <a:stretch/>
        </p:blipFill>
        <p:spPr>
          <a:xfrm>
            <a:off x="3797212" y="4826000"/>
            <a:ext cx="1651000" cy="127000"/>
          </a:xfrm>
          <a:prstGeom prst="rect">
            <a:avLst/>
          </a:prstGeom>
        </p:spPr>
      </p:pic>
      <p:sp>
        <p:nvSpPr>
          <p:cNvPr id="12" name="Shape 8"/>
          <p:cNvSpPr/>
          <p:nvPr/>
        </p:nvSpPr>
        <p:spPr>
          <a:xfrm>
            <a:off x="5384712" y="2286000"/>
            <a:ext cx="5994356" cy="3429000"/>
          </a:xfrm>
          <a:prstGeom prst="roundRect">
            <a:avLst>
              <a:gd name="adj" fmla="val 4444"/>
            </a:avLst>
          </a:prstGeom>
          <a:solidFill>
            <a:srgbClr val="123524"/>
          </a:solidFill>
          <a:ln/>
        </p:spPr>
      </p:sp>
      <p:sp>
        <p:nvSpPr>
          <p:cNvPr id="13" name="Text 9"/>
          <p:cNvSpPr/>
          <p:nvPr/>
        </p:nvSpPr>
        <p:spPr>
          <a:xfrm>
            <a:off x="5638712" y="2438357"/>
            <a:ext cx="3924300" cy="416432"/>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D7F05A"/>
                </a:solidFill>
                <a:latin typeface="Oswald" pitchFamily="34" charset="0"/>
                <a:ea typeface="Oswald" pitchFamily="34" charset="-122"/>
                <a:cs typeface="Oswald" pitchFamily="34" charset="-120"/>
              </a:rPr>
              <a:t>Supabase</a:t>
            </a:r>
            <a:endParaRPr lang="en-US" sz="2200" dirty="0"/>
          </a:p>
        </p:txBody>
      </p:sp>
      <p:sp>
        <p:nvSpPr>
          <p:cNvPr id="14" name="Shape 10"/>
          <p:cNvSpPr/>
          <p:nvPr/>
        </p:nvSpPr>
        <p:spPr>
          <a:xfrm>
            <a:off x="5638712" y="2921000"/>
            <a:ext cx="2667000" cy="1270000"/>
          </a:xfrm>
          <a:prstGeom prst="roundRect">
            <a:avLst>
              <a:gd name="adj" fmla="val 8000"/>
            </a:avLst>
          </a:prstGeom>
          <a:solidFill>
            <a:srgbClr val="1F6F43"/>
          </a:solidFill>
          <a:ln/>
        </p:spPr>
      </p:sp>
      <p:sp>
        <p:nvSpPr>
          <p:cNvPr id="15" name="Text 11"/>
          <p:cNvSpPr/>
          <p:nvPr/>
        </p:nvSpPr>
        <p:spPr>
          <a:xfrm>
            <a:off x="5816424" y="3098713"/>
            <a:ext cx="2380924" cy="26914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EE"/>
                </a:solidFill>
                <a:latin typeface="Roboto" pitchFamily="34" charset="0"/>
                <a:ea typeface="Roboto" pitchFamily="34" charset="-122"/>
                <a:cs typeface="Roboto" pitchFamily="34" charset="-120"/>
              </a:rPr>
              <a:t>Auth</a:t>
            </a:r>
            <a:endParaRPr lang="en-US" sz="1600" dirty="0"/>
          </a:p>
        </p:txBody>
      </p:sp>
      <p:sp>
        <p:nvSpPr>
          <p:cNvPr id="16" name="Text 12"/>
          <p:cNvSpPr/>
          <p:nvPr/>
        </p:nvSpPr>
        <p:spPr>
          <a:xfrm>
            <a:off x="5816424" y="3418638"/>
            <a:ext cx="2380924" cy="2386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EE4"/>
                </a:solidFill>
                <a:latin typeface="Roboto" pitchFamily="34" charset="0"/>
                <a:ea typeface="Roboto" pitchFamily="34" charset="-122"/>
                <a:cs typeface="Roboto" pitchFamily="34" charset="-120"/>
              </a:rPr>
              <a:t>Login e sessão de cada usuário</a:t>
            </a:r>
            <a:endParaRPr lang="en-US" sz="1200" dirty="0"/>
          </a:p>
        </p:txBody>
      </p:sp>
      <p:sp>
        <p:nvSpPr>
          <p:cNvPr id="17" name="Shape 13"/>
          <p:cNvSpPr/>
          <p:nvPr/>
        </p:nvSpPr>
        <p:spPr>
          <a:xfrm>
            <a:off x="8458178" y="2921000"/>
            <a:ext cx="2667000" cy="1270000"/>
          </a:xfrm>
          <a:prstGeom prst="roundRect">
            <a:avLst>
              <a:gd name="adj" fmla="val 8000"/>
            </a:avLst>
          </a:prstGeom>
          <a:solidFill>
            <a:srgbClr val="1F6F43"/>
          </a:solidFill>
          <a:ln/>
        </p:spPr>
      </p:sp>
      <p:sp>
        <p:nvSpPr>
          <p:cNvPr id="18" name="Text 14"/>
          <p:cNvSpPr/>
          <p:nvPr/>
        </p:nvSpPr>
        <p:spPr>
          <a:xfrm>
            <a:off x="8635890" y="3098713"/>
            <a:ext cx="2380924" cy="26914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EE"/>
                </a:solidFill>
                <a:latin typeface="Roboto" pitchFamily="34" charset="0"/>
                <a:ea typeface="Roboto" pitchFamily="34" charset="-122"/>
                <a:cs typeface="Roboto" pitchFamily="34" charset="-120"/>
              </a:rPr>
              <a:t>PostgreSQL + RLS</a:t>
            </a:r>
            <a:endParaRPr lang="en-US" sz="1600" dirty="0"/>
          </a:p>
        </p:txBody>
      </p:sp>
      <p:sp>
        <p:nvSpPr>
          <p:cNvPr id="19" name="Text 15"/>
          <p:cNvSpPr/>
          <p:nvPr/>
        </p:nvSpPr>
        <p:spPr>
          <a:xfrm>
            <a:off x="8635890" y="3418638"/>
            <a:ext cx="2380924" cy="4518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EE4"/>
                </a:solidFill>
                <a:latin typeface="Roboto" pitchFamily="34" charset="0"/>
                <a:ea typeface="Roboto" pitchFamily="34" charset="-122"/>
                <a:cs typeface="Roboto" pitchFamily="34" charset="-120"/>
              </a:rPr>
              <a:t>Dados e regras; cada um vê só o que é seu</a:t>
            </a:r>
            <a:endParaRPr lang="en-US" sz="1200" dirty="0"/>
          </a:p>
        </p:txBody>
      </p:sp>
      <p:sp>
        <p:nvSpPr>
          <p:cNvPr id="20" name="Shape 16"/>
          <p:cNvSpPr/>
          <p:nvPr/>
        </p:nvSpPr>
        <p:spPr>
          <a:xfrm>
            <a:off x="5638712" y="4318000"/>
            <a:ext cx="2667000" cy="1270000"/>
          </a:xfrm>
          <a:prstGeom prst="roundRect">
            <a:avLst>
              <a:gd name="adj" fmla="val 8000"/>
            </a:avLst>
          </a:prstGeom>
          <a:solidFill>
            <a:srgbClr val="1F6F43"/>
          </a:solidFill>
          <a:ln/>
        </p:spPr>
      </p:sp>
      <p:sp>
        <p:nvSpPr>
          <p:cNvPr id="21" name="Text 17"/>
          <p:cNvSpPr/>
          <p:nvPr/>
        </p:nvSpPr>
        <p:spPr>
          <a:xfrm>
            <a:off x="5816424" y="4495713"/>
            <a:ext cx="2380924" cy="26914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EE"/>
                </a:solidFill>
                <a:latin typeface="Roboto" pitchFamily="34" charset="0"/>
                <a:ea typeface="Roboto" pitchFamily="34" charset="-122"/>
                <a:cs typeface="Roboto" pitchFamily="34" charset="-120"/>
              </a:rPr>
              <a:t>Realtime</a:t>
            </a:r>
            <a:endParaRPr lang="en-US" sz="1600" dirty="0"/>
          </a:p>
        </p:txBody>
      </p:sp>
      <p:sp>
        <p:nvSpPr>
          <p:cNvPr id="22" name="Text 18"/>
          <p:cNvSpPr/>
          <p:nvPr/>
        </p:nvSpPr>
        <p:spPr>
          <a:xfrm>
            <a:off x="5816424" y="4815638"/>
            <a:ext cx="2380924" cy="2386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EE4"/>
                </a:solidFill>
                <a:latin typeface="Roboto" pitchFamily="34" charset="0"/>
                <a:ea typeface="Roboto" pitchFamily="34" charset="-122"/>
                <a:cs typeface="Roboto" pitchFamily="34" charset="-120"/>
              </a:rPr>
              <a:t>Avisa as telas quando algo muda</a:t>
            </a:r>
            <a:endParaRPr lang="en-US" sz="1200" dirty="0"/>
          </a:p>
        </p:txBody>
      </p:sp>
      <p:sp>
        <p:nvSpPr>
          <p:cNvPr id="23" name="Shape 19"/>
          <p:cNvSpPr/>
          <p:nvPr/>
        </p:nvSpPr>
        <p:spPr>
          <a:xfrm>
            <a:off x="8464528" y="4324350"/>
            <a:ext cx="2654300" cy="1257300"/>
          </a:xfrm>
          <a:prstGeom prst="roundRect">
            <a:avLst>
              <a:gd name="adj" fmla="val 7576"/>
            </a:avLst>
          </a:prstGeom>
          <a:solidFill>
            <a:srgbClr val="1F6F43"/>
          </a:solidFill>
          <a:ln w="12700">
            <a:solidFill>
              <a:srgbClr val="D7F05A"/>
            </a:solidFill>
            <a:prstDash val="dash"/>
          </a:ln>
        </p:spPr>
      </p:sp>
      <p:sp>
        <p:nvSpPr>
          <p:cNvPr id="24" name="Text 20"/>
          <p:cNvSpPr/>
          <p:nvPr/>
        </p:nvSpPr>
        <p:spPr>
          <a:xfrm>
            <a:off x="8642946" y="4502770"/>
            <a:ext cx="2366389" cy="26914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EE"/>
                </a:solidFill>
                <a:latin typeface="Roboto" pitchFamily="34" charset="0"/>
                <a:ea typeface="Roboto" pitchFamily="34" charset="-122"/>
                <a:cs typeface="Roboto" pitchFamily="34" charset="-120"/>
              </a:rPr>
              <a:t>Edge Functions</a:t>
            </a:r>
            <a:endParaRPr lang="en-US" sz="1600" dirty="0"/>
          </a:p>
        </p:txBody>
      </p:sp>
      <p:sp>
        <p:nvSpPr>
          <p:cNvPr id="25" name="Text 21"/>
          <p:cNvSpPr/>
          <p:nvPr/>
        </p:nvSpPr>
        <p:spPr>
          <a:xfrm>
            <a:off x="8642946" y="4822695"/>
            <a:ext cx="2469532" cy="2386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EE4"/>
                </a:solidFill>
                <a:latin typeface="Roboto" pitchFamily="34" charset="0"/>
                <a:ea typeface="Roboto" pitchFamily="34" charset="-122"/>
                <a:cs typeface="Roboto" pitchFamily="34" charset="-120"/>
              </a:rPr>
              <a:t>Lógica em TypeScript, na Etapa 2</a:t>
            </a:r>
            <a:endParaRPr lang="en-US" sz="1200" dirty="0"/>
          </a:p>
        </p:txBody>
      </p:sp>
      <p:sp>
        <p:nvSpPr>
          <p:cNvPr id="26" name="Text 22"/>
          <p:cNvSpPr/>
          <p:nvPr/>
        </p:nvSpPr>
        <p:spPr>
          <a:xfrm>
            <a:off x="812712" y="6238435"/>
            <a:ext cx="8502651" cy="2386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63"/>
                </a:solidFill>
                <a:latin typeface="Roboto" pitchFamily="34" charset="0"/>
                <a:ea typeface="Roboto" pitchFamily="34" charset="-122"/>
                <a:cs typeface="Roboto" pitchFamily="34" charset="-120"/>
              </a:rPr>
              <a:t>Tracejado: previsto para a Etapa 2</a:t>
            </a:r>
            <a:endParaRPr lang="en-US" sz="1200" dirty="0"/>
          </a:p>
        </p:txBody>
      </p:sp>
      <p:sp>
        <p:nvSpPr>
          <p:cNvPr id="27" name="Text 23"/>
          <p:cNvSpPr/>
          <p:nvPr/>
        </p:nvSpPr>
        <p:spPr>
          <a:xfrm>
            <a:off x="10566488" y="6238435"/>
            <a:ext cx="812800" cy="2386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63"/>
                </a:solidFill>
                <a:latin typeface="Roboto" pitchFamily="34" charset="0"/>
                <a:ea typeface="Roboto" pitchFamily="34" charset="-122"/>
                <a:cs typeface="Roboto"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3524"/>
        </a:solidFill>
      </p:bgPr>
    </p:bg>
    <p:spTree>
      <p:nvGrpSpPr>
        <p:cNvPr id="1" name=""/>
        <p:cNvGrpSpPr/>
        <p:nvPr/>
      </p:nvGrpSpPr>
      <p:grpSpPr>
        <a:xfrm>
          <a:off x="0" y="0"/>
          <a:ext cx="0" cy="0"/>
          <a:chOff x="0" y="0"/>
          <a:chExt cx="0" cy="0"/>
        </a:xfrm>
      </p:grpSpPr>
      <p:sp>
        <p:nvSpPr>
          <p:cNvPr id="2" name="Text 0"/>
          <p:cNvSpPr/>
          <p:nvPr/>
        </p:nvSpPr>
        <p:spPr>
          <a:xfrm>
            <a:off x="812712" y="1912938"/>
            <a:ext cx="5625284" cy="23861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D7F05A"/>
                </a:solidFill>
                <a:latin typeface="Roboto" pitchFamily="34" charset="0"/>
                <a:ea typeface="Roboto" pitchFamily="34" charset="-122"/>
                <a:cs typeface="Roboto" pitchFamily="34" charset="-120"/>
              </a:rPr>
              <a:t>PROTÓTIPO</a:t>
            </a:r>
            <a:endParaRPr lang="en-US" sz="1200" dirty="0"/>
          </a:p>
        </p:txBody>
      </p:sp>
      <p:sp>
        <p:nvSpPr>
          <p:cNvPr id="3" name="Text 1"/>
          <p:cNvSpPr/>
          <p:nvPr>
            <p:ph type="title"/>
          </p:nvPr>
        </p:nvSpPr>
        <p:spPr>
          <a:xfrm>
            <a:off x="812712" y="2329324"/>
            <a:ext cx="5625284" cy="528219"/>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3F5EE"/>
                </a:solidFill>
                <a:latin typeface="Oswald" pitchFamily="34" charset="0"/>
                <a:ea typeface="Oswald" pitchFamily="34" charset="-122"/>
                <a:cs typeface="Oswald" pitchFamily="34" charset="-120"/>
              </a:rPr>
              <a:t>Protótipo funcional, no ar</a:t>
            </a:r>
            <a:endParaRPr lang="en-US" sz="3600" dirty="0"/>
          </a:p>
        </p:txBody>
      </p:sp>
      <p:sp>
        <p:nvSpPr>
          <p:cNvPr id="4" name="Text 2"/>
          <p:cNvSpPr/>
          <p:nvPr/>
        </p:nvSpPr>
        <p:spPr>
          <a:xfrm>
            <a:off x="812712" y="3035322"/>
            <a:ext cx="5625284" cy="309827"/>
          </a:xfrm>
          <a:prstGeom prst="rect">
            <a:avLst/>
          </a:prstGeom>
          <a:noFill/>
          <a:ln/>
        </p:spPr>
        <p:txBody>
          <a:bodyPr wrap="square" lIns="0" tIns="0" rIns="0" bIns="0" rtlCol="0" anchor="t">
            <a:normAutofit/>
          </a:bodyPr>
          <a:lstStyle/>
          <a:p>
            <a:pPr algn="l" indent="0" marL="0">
              <a:lnSpc>
                <a:spcPts val="2240"/>
              </a:lnSpc>
              <a:buNone/>
            </a:pPr>
            <a:r>
              <a:rPr lang="en-US" sz="1600" u="sng" dirty="0">
                <a:solidFill>
                  <a:srgbClr val="D7F05A"/>
                </a:solidFill>
                <a:latin typeface="Roboto" pitchFamily="34" charset="0"/>
                <a:ea typeface="Roboto" pitchFamily="34" charset="-122"/>
                <a:cs typeface="Roboto" pitchFamily="34" charset="-120"/>
                <a:hlinkClick r:id="rId1" invalidUrl="" action="" tgtFrame="" tooltip="" history="1" highlightClick="0" endSnd="0">
                  <a:extLst>
                    <a:ext uri="{A12FA001-AC4F-418D-AE19-62706E023703}">
                      <ahyp:hlinkClr xmlns:ahyp="http://schemas.microsoft.com/office/drawing/2018/hyperlinkcolor" val="tx"/>
                    </a:ext>
                  </a:extLst>
                </a:hlinkClick>
              </a:rPr>
              <a:t>luizhenriqueperinif.github.io/Tennis_App</a:t>
            </a:r>
            <a:endParaRPr lang="en-US" sz="1600" dirty="0"/>
          </a:p>
        </p:txBody>
      </p:sp>
      <p:sp>
        <p:nvSpPr>
          <p:cNvPr id="5" name="Text 3"/>
          <p:cNvSpPr/>
          <p:nvPr/>
        </p:nvSpPr>
        <p:spPr>
          <a:xfrm>
            <a:off x="883070" y="3522926"/>
            <a:ext cx="5547306" cy="1244247"/>
          </a:xfrm>
          <a:prstGeom prst="rect">
            <a:avLst/>
          </a:prstGeom>
          <a:noFill/>
          <a:ln/>
        </p:spPr>
        <p:txBody>
          <a:bodyPr wrap="square" lIns="0" tIns="0" rIns="0" bIns="0" rtlCol="0" anchor="t">
            <a:normAutofit/>
          </a:bodyPr>
          <a:lstStyle/>
          <a:p>
            <a:pPr algn="l" marL="183642" indent="-183642">
              <a:lnSpc>
                <a:spcPts val="2400"/>
              </a:lnSpc>
              <a:buSzPct val="100000"/>
              <a:buChar char="•"/>
            </a:pPr>
            <a:r>
              <a:rPr lang="en-US" sz="1600" dirty="0">
                <a:solidFill>
                  <a:srgbClr val="C9D8CC"/>
                </a:solidFill>
                <a:latin typeface="Roboto" pitchFamily="34" charset="0"/>
                <a:ea typeface="Roboto" pitchFamily="34" charset="-122"/>
                <a:cs typeface="Roboto" pitchFamily="34" charset="-120"/>
              </a:rPr>
              <a:t>12 telas: login, 5 do professor e 6 do aluno</a:t>
            </a:r>
            <a:endParaRPr lang="en-US" sz="1600" dirty="0"/>
          </a:p>
          <a:p>
            <a:pPr algn="l" marL="183642" indent="-183642">
              <a:lnSpc>
                <a:spcPts val="2400"/>
              </a:lnSpc>
              <a:buSzPct val="100000"/>
              <a:buChar char="•"/>
            </a:pPr>
            <a:r>
              <a:rPr lang="en-US" sz="1600" dirty="0">
                <a:solidFill>
                  <a:srgbClr val="C9D8CC"/>
                </a:solidFill>
                <a:latin typeface="Roboto" pitchFamily="34" charset="0"/>
                <a:ea typeface="Roboto" pitchFamily="34" charset="-122"/>
                <a:cs typeface="Roboto" pitchFamily="34" charset="-120"/>
              </a:rPr>
              <a:t>Login real e dados no Supabase</a:t>
            </a:r>
            <a:endParaRPr lang="en-US" sz="1600" dirty="0"/>
          </a:p>
          <a:p>
            <a:pPr algn="l" marL="183642" indent="-183642">
              <a:lnSpc>
                <a:spcPts val="2400"/>
              </a:lnSpc>
              <a:buSzPct val="100000"/>
              <a:buChar char="•"/>
            </a:pPr>
            <a:r>
              <a:rPr lang="en-US" sz="1600" dirty="0">
                <a:solidFill>
                  <a:srgbClr val="C9D8CC"/>
                </a:solidFill>
                <a:latin typeface="Roboto" pitchFamily="34" charset="0"/>
                <a:ea typeface="Roboto" pitchFamily="34" charset="-122"/>
                <a:cs typeface="Roboto" pitchFamily="34" charset="-120"/>
              </a:rPr>
              <a:t>Uma tela atualiza a outra em 1 a 2 segundos</a:t>
            </a:r>
            <a:endParaRPr lang="en-US" sz="1600" dirty="0"/>
          </a:p>
          <a:p>
            <a:pPr algn="l" marL="183642" indent="-183642">
              <a:lnSpc>
                <a:spcPts val="2400"/>
              </a:lnSpc>
              <a:buSzPct val="100000"/>
              <a:buChar char="•"/>
            </a:pPr>
            <a:r>
              <a:rPr lang="en-US" sz="1600" dirty="0">
                <a:solidFill>
                  <a:srgbClr val="C9D8CC"/>
                </a:solidFill>
                <a:latin typeface="Roboto" pitchFamily="34" charset="0"/>
                <a:ea typeface="Roboto" pitchFamily="34" charset="-122"/>
                <a:cs typeface="Roboto" pitchFamily="34" charset="-120"/>
              </a:rPr>
              <a:t>Testado: 13 passos e 7 bloqueios OK</a:t>
            </a:r>
            <a:endParaRPr lang="en-US" sz="1600" dirty="0"/>
          </a:p>
        </p:txBody>
      </p:sp>
      <p:pic>
        <p:nvPicPr>
          <p:cNvPr id="6" name="Image 0" descr="Tela inicial do professor: próxima aula com a lista de presença e as pendências">    </p:cNvPr>
          <p:cNvPicPr>
            <a:picLocks noChangeAspect="1"/>
          </p:cNvPicPr>
          <p:nvPr/>
        </p:nvPicPr>
        <p:blipFill>
          <a:blip r:embed="rId2"/>
          <a:srcRect l="0" r="0" t="-14" b="-14"/>
          <a:stretch/>
        </p:blipFill>
        <p:spPr>
          <a:xfrm>
            <a:off x="6680509" y="896606"/>
            <a:ext cx="2146212" cy="4572000"/>
          </a:xfrm>
          <a:prstGeom prst="roundRect">
            <a:avLst>
              <a:gd name="adj" fmla="val 5917"/>
            </a:avLst>
          </a:prstGeom>
        </p:spPr>
      </p:pic>
      <p:sp>
        <p:nvSpPr>
          <p:cNvPr id="7" name="Text 4"/>
          <p:cNvSpPr/>
          <p:nvPr/>
        </p:nvSpPr>
        <p:spPr>
          <a:xfrm>
            <a:off x="7357137" y="5544784"/>
            <a:ext cx="792956" cy="23861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C9D8CC"/>
                </a:solidFill>
                <a:latin typeface="Roboto" pitchFamily="34" charset="0"/>
                <a:ea typeface="Roboto" pitchFamily="34" charset="-122"/>
                <a:cs typeface="Roboto" pitchFamily="34" charset="-120"/>
              </a:rPr>
              <a:t>Professor</a:t>
            </a:r>
            <a:endParaRPr lang="en-US" sz="1200" dirty="0"/>
          </a:p>
        </p:txBody>
      </p:sp>
      <p:pic>
        <p:nvPicPr>
          <p:cNvPr id="8" name="Image 1" descr="Tela inicial do aluno: confirmar presença e placar para confirmar">    </p:cNvPr>
          <p:cNvPicPr>
            <a:picLocks noChangeAspect="1"/>
          </p:cNvPicPr>
          <p:nvPr/>
        </p:nvPicPr>
        <p:blipFill>
          <a:blip r:embed="rId3"/>
          <a:srcRect l="-337" r="-337" t="0" b="0"/>
          <a:stretch/>
        </p:blipFill>
        <p:spPr>
          <a:xfrm>
            <a:off x="9233077" y="896606"/>
            <a:ext cx="2146212" cy="4572000"/>
          </a:xfrm>
          <a:prstGeom prst="roundRect">
            <a:avLst>
              <a:gd name="adj" fmla="val 5917"/>
            </a:avLst>
          </a:prstGeom>
        </p:spPr>
      </p:pic>
      <p:sp>
        <p:nvSpPr>
          <p:cNvPr id="9" name="Text 5"/>
          <p:cNvSpPr/>
          <p:nvPr/>
        </p:nvSpPr>
        <p:spPr>
          <a:xfrm>
            <a:off x="10071244" y="5544784"/>
            <a:ext cx="469768" cy="23861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C9D8CC"/>
                </a:solidFill>
                <a:latin typeface="Roboto" pitchFamily="34" charset="0"/>
                <a:ea typeface="Roboto" pitchFamily="34" charset="-122"/>
                <a:cs typeface="Roboto" pitchFamily="34" charset="-120"/>
              </a:rPr>
              <a:t>Aluno</a:t>
            </a:r>
            <a:endParaRPr lang="en-US" sz="1200" dirty="0"/>
          </a:p>
        </p:txBody>
      </p:sp>
      <p:sp>
        <p:nvSpPr>
          <p:cNvPr id="10" name="Text 6"/>
          <p:cNvSpPr/>
          <p:nvPr/>
        </p:nvSpPr>
        <p:spPr>
          <a:xfrm>
            <a:off x="10566488" y="6238432"/>
            <a:ext cx="812800" cy="2386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9D8CC"/>
                </a:solidFill>
                <a:latin typeface="Roboto" pitchFamily="34" charset="0"/>
                <a:ea typeface="Roboto" pitchFamily="34" charset="-122"/>
                <a:cs typeface="Roboto"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5EE"/>
        </a:solidFill>
      </p:bgPr>
    </p:bg>
    <p:spTree>
      <p:nvGrpSpPr>
        <p:cNvPr id="1" name=""/>
        <p:cNvGrpSpPr/>
        <p:nvPr/>
      </p:nvGrpSpPr>
      <p:grpSpPr>
        <a:xfrm>
          <a:off x="0" y="0"/>
          <a:ext cx="0" cy="0"/>
          <a:chOff x="0" y="0"/>
          <a:chExt cx="0" cy="0"/>
        </a:xfrm>
      </p:grpSpPr>
      <p:sp>
        <p:nvSpPr>
          <p:cNvPr id="2" name="Text 0"/>
          <p:cNvSpPr/>
          <p:nvPr/>
        </p:nvSpPr>
        <p:spPr>
          <a:xfrm>
            <a:off x="812712" y="812710"/>
            <a:ext cx="10883574" cy="23861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6F43"/>
                </a:solidFill>
                <a:latin typeface="Roboto" pitchFamily="34" charset="0"/>
                <a:ea typeface="Roboto" pitchFamily="34" charset="-122"/>
                <a:cs typeface="Roboto" pitchFamily="34" charset="-120"/>
              </a:rPr>
              <a:t>DER</a:t>
            </a:r>
            <a:endParaRPr lang="en-US" sz="1200" dirty="0"/>
          </a:p>
        </p:txBody>
      </p:sp>
      <p:sp>
        <p:nvSpPr>
          <p:cNvPr id="3" name="Text 1"/>
          <p:cNvSpPr/>
          <p:nvPr>
            <p:ph type="title"/>
          </p:nvPr>
        </p:nvSpPr>
        <p:spPr>
          <a:xfrm>
            <a:off x="812712" y="1178275"/>
            <a:ext cx="10883574" cy="528219"/>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3524"/>
                </a:solidFill>
                <a:latin typeface="Oswald" pitchFamily="34" charset="0"/>
                <a:ea typeface="Oswald" pitchFamily="34" charset="-122"/>
                <a:cs typeface="Oswald" pitchFamily="34" charset="-120"/>
              </a:rPr>
              <a:t>Modelo de dados do protótipo: 9 tabelas</a:t>
            </a:r>
            <a:endParaRPr lang="en-US" sz="3600" dirty="0"/>
          </a:p>
        </p:txBody>
      </p:sp>
      <p:pic>
        <p:nvPicPr>
          <p:cNvPr id="4" name="Image 0" descr="connector">    </p:cNvPr>
          <p:cNvPicPr>
            <a:picLocks noChangeAspect="1"/>
          </p:cNvPicPr>
          <p:nvPr/>
        </p:nvPicPr>
        <p:blipFill>
          <a:blip r:embed="rId1"/>
          <a:srcRect l="0" r="0" t="-30" b="-30"/>
          <a:stretch/>
        </p:blipFill>
        <p:spPr>
          <a:xfrm>
            <a:off x="2108178" y="2514532"/>
            <a:ext cx="101534" cy="1041356"/>
          </a:xfrm>
          <a:prstGeom prst="rect">
            <a:avLst/>
          </a:prstGeom>
        </p:spPr>
      </p:pic>
      <p:pic>
        <p:nvPicPr>
          <p:cNvPr id="5" name="Image 1" descr="connector">    </p:cNvPr>
          <p:cNvPicPr>
            <a:picLocks noChangeAspect="1"/>
          </p:cNvPicPr>
          <p:nvPr/>
        </p:nvPicPr>
        <p:blipFill>
          <a:blip r:embed="rId2"/>
          <a:srcRect l="0" r="0" t="-30" b="-30"/>
          <a:stretch/>
        </p:blipFill>
        <p:spPr>
          <a:xfrm>
            <a:off x="2108178" y="4114710"/>
            <a:ext cx="101534" cy="1041356"/>
          </a:xfrm>
          <a:prstGeom prst="rect">
            <a:avLst/>
          </a:prstGeom>
        </p:spPr>
      </p:pic>
      <p:pic>
        <p:nvPicPr>
          <p:cNvPr id="6" name="Image 2" descr="connector">    </p:cNvPr>
          <p:cNvPicPr>
            <a:picLocks noChangeAspect="1"/>
          </p:cNvPicPr>
          <p:nvPr/>
        </p:nvPicPr>
        <p:blipFill>
          <a:blip r:embed="rId3"/>
          <a:srcRect l="-1" r="-1" t="0" b="0"/>
          <a:stretch/>
        </p:blipFill>
        <p:spPr>
          <a:xfrm>
            <a:off x="3251178" y="2184353"/>
            <a:ext cx="1625534" cy="1701712"/>
          </a:xfrm>
          <a:prstGeom prst="rect">
            <a:avLst/>
          </a:prstGeom>
        </p:spPr>
      </p:pic>
      <p:pic>
        <p:nvPicPr>
          <p:cNvPr id="7" name="Image 3" descr="connector">    </p:cNvPr>
          <p:cNvPicPr>
            <a:picLocks noChangeAspect="1"/>
          </p:cNvPicPr>
          <p:nvPr/>
        </p:nvPicPr>
        <p:blipFill>
          <a:blip r:embed="rId4"/>
          <a:srcRect l="0" r="0" t="-1" b="-1"/>
          <a:stretch/>
        </p:blipFill>
        <p:spPr>
          <a:xfrm>
            <a:off x="3251178" y="2984500"/>
            <a:ext cx="1625534" cy="901678"/>
          </a:xfrm>
          <a:prstGeom prst="rect">
            <a:avLst/>
          </a:prstGeom>
        </p:spPr>
      </p:pic>
      <p:pic>
        <p:nvPicPr>
          <p:cNvPr id="8" name="Image 4" descr="connector">    </p:cNvPr>
          <p:cNvPicPr>
            <a:picLocks noChangeAspect="1"/>
          </p:cNvPicPr>
          <p:nvPr/>
        </p:nvPicPr>
        <p:blipFill>
          <a:blip r:embed="rId5"/>
          <a:srcRect l="0" r="0" t="-1" b="-1"/>
          <a:stretch/>
        </p:blipFill>
        <p:spPr>
          <a:xfrm>
            <a:off x="3251178" y="3784532"/>
            <a:ext cx="1625534" cy="901678"/>
          </a:xfrm>
          <a:prstGeom prst="rect">
            <a:avLst/>
          </a:prstGeom>
        </p:spPr>
      </p:pic>
      <p:pic>
        <p:nvPicPr>
          <p:cNvPr id="9" name="Image 5" descr="connector">    </p:cNvPr>
          <p:cNvPicPr>
            <a:picLocks noChangeAspect="1"/>
          </p:cNvPicPr>
          <p:nvPr/>
        </p:nvPicPr>
        <p:blipFill>
          <a:blip r:embed="rId6"/>
          <a:srcRect l="-1" r="-1" t="0" b="0"/>
          <a:stretch/>
        </p:blipFill>
        <p:spPr>
          <a:xfrm>
            <a:off x="3251178" y="3784532"/>
            <a:ext cx="1625534" cy="1701712"/>
          </a:xfrm>
          <a:prstGeom prst="rect">
            <a:avLst/>
          </a:prstGeom>
        </p:spPr>
      </p:pic>
      <p:pic>
        <p:nvPicPr>
          <p:cNvPr id="10" name="Image 6" descr="connector">    </p:cNvPr>
          <p:cNvPicPr>
            <a:picLocks noChangeAspect="1"/>
          </p:cNvPicPr>
          <p:nvPr/>
        </p:nvPicPr>
        <p:blipFill>
          <a:blip r:embed="rId7"/>
          <a:srcRect l="0" r="0" t="-14" b="-14"/>
          <a:stretch/>
        </p:blipFill>
        <p:spPr>
          <a:xfrm>
            <a:off x="6045178" y="3314678"/>
            <a:ext cx="101534" cy="241212"/>
          </a:xfrm>
          <a:prstGeom prst="rect">
            <a:avLst/>
          </a:prstGeom>
        </p:spPr>
      </p:pic>
      <p:pic>
        <p:nvPicPr>
          <p:cNvPr id="11" name="Image 7" descr="connector">    </p:cNvPr>
          <p:cNvPicPr>
            <a:picLocks noChangeAspect="1"/>
          </p:cNvPicPr>
          <p:nvPr/>
        </p:nvPicPr>
        <p:blipFill>
          <a:blip r:embed="rId8"/>
          <a:srcRect l="-1" r="-1" t="0" b="0"/>
          <a:stretch/>
        </p:blipFill>
        <p:spPr>
          <a:xfrm>
            <a:off x="7315178" y="2184353"/>
            <a:ext cx="1625534" cy="1701712"/>
          </a:xfrm>
          <a:prstGeom prst="rect">
            <a:avLst/>
          </a:prstGeom>
        </p:spPr>
      </p:pic>
      <p:pic>
        <p:nvPicPr>
          <p:cNvPr id="12" name="Image 8" descr="connector">    </p:cNvPr>
          <p:cNvPicPr>
            <a:picLocks noChangeAspect="1"/>
          </p:cNvPicPr>
          <p:nvPr/>
        </p:nvPicPr>
        <p:blipFill>
          <a:blip r:embed="rId9"/>
          <a:srcRect l="-31" r="-31" t="0" b="0"/>
          <a:stretch/>
        </p:blipFill>
        <p:spPr>
          <a:xfrm>
            <a:off x="7315178" y="3784532"/>
            <a:ext cx="1625534" cy="101534"/>
          </a:xfrm>
          <a:prstGeom prst="rect">
            <a:avLst/>
          </a:prstGeom>
        </p:spPr>
      </p:pic>
      <p:pic>
        <p:nvPicPr>
          <p:cNvPr id="13" name="Image 9" descr="connector">    </p:cNvPr>
          <p:cNvPicPr>
            <a:picLocks noChangeAspect="1"/>
          </p:cNvPicPr>
          <p:nvPr/>
        </p:nvPicPr>
        <p:blipFill>
          <a:blip r:embed="rId10"/>
          <a:srcRect l="0" r="0" t="-1" b="-1"/>
          <a:stretch/>
        </p:blipFill>
        <p:spPr>
          <a:xfrm>
            <a:off x="7315178" y="3784532"/>
            <a:ext cx="1625534" cy="901678"/>
          </a:xfrm>
          <a:prstGeom prst="rect">
            <a:avLst/>
          </a:prstGeom>
        </p:spPr>
      </p:pic>
      <p:pic>
        <p:nvPicPr>
          <p:cNvPr id="14" name="Image 10" descr="connector">    </p:cNvPr>
          <p:cNvPicPr>
            <a:picLocks noChangeAspect="1"/>
          </p:cNvPicPr>
          <p:nvPr/>
        </p:nvPicPr>
        <p:blipFill>
          <a:blip r:embed="rId11"/>
          <a:srcRect l="-1" r="-1" t="0" b="0"/>
          <a:stretch/>
        </p:blipFill>
        <p:spPr>
          <a:xfrm>
            <a:off x="7315178" y="3784532"/>
            <a:ext cx="1625534" cy="1701712"/>
          </a:xfrm>
          <a:prstGeom prst="rect">
            <a:avLst/>
          </a:prstGeom>
        </p:spPr>
      </p:pic>
      <p:sp>
        <p:nvSpPr>
          <p:cNvPr id="15" name="Shape 2"/>
          <p:cNvSpPr/>
          <p:nvPr/>
        </p:nvSpPr>
        <p:spPr>
          <a:xfrm>
            <a:off x="1022350" y="1911350"/>
            <a:ext cx="2273300" cy="647656"/>
          </a:xfrm>
          <a:prstGeom prst="roundRect">
            <a:avLst>
              <a:gd name="adj" fmla="val 12746"/>
            </a:avLst>
          </a:prstGeom>
          <a:solidFill>
            <a:srgbClr val="FBFCF8"/>
          </a:solidFill>
          <a:ln w="12700">
            <a:solidFill>
              <a:srgbClr val="1F6F43"/>
            </a:solidFill>
            <a:prstDash val="solid"/>
          </a:ln>
        </p:spPr>
      </p:sp>
      <p:sp>
        <p:nvSpPr>
          <p:cNvPr id="16" name="Text 3"/>
          <p:cNvSpPr/>
          <p:nvPr/>
        </p:nvSpPr>
        <p:spPr>
          <a:xfrm>
            <a:off x="1175411" y="2013589"/>
            <a:ext cx="2026193" cy="241587"/>
          </a:xfrm>
          <a:prstGeom prst="rect">
            <a:avLst/>
          </a:prstGeom>
          <a:noFill/>
          <a:ln/>
        </p:spPr>
        <p:txBody>
          <a:bodyPr wrap="square" lIns="0" tIns="0" rIns="0" bIns="0" rtlCol="0" anchor="t">
            <a:normAutofit/>
          </a:bodyPr>
          <a:lstStyle/>
          <a:p>
            <a:pPr algn="l" indent="0" marL="0">
              <a:lnSpc>
                <a:spcPts val="1721"/>
              </a:lnSpc>
              <a:buNone/>
            </a:pPr>
            <a:r>
              <a:rPr lang="en-US" sz="1434" dirty="0">
                <a:solidFill>
                  <a:srgbClr val="123524"/>
                </a:solidFill>
                <a:latin typeface="Oswald" pitchFamily="34" charset="0"/>
                <a:ea typeface="Oswald" pitchFamily="34" charset="-122"/>
                <a:cs typeface="Oswald" pitchFamily="34" charset="-120"/>
              </a:rPr>
              <a:t>perfis</a:t>
            </a:r>
            <a:endParaRPr lang="en-US" sz="1434" dirty="0"/>
          </a:p>
        </p:txBody>
      </p:sp>
      <p:sp>
        <p:nvSpPr>
          <p:cNvPr id="17" name="Text 4"/>
          <p:cNvSpPr/>
          <p:nvPr/>
        </p:nvSpPr>
        <p:spPr>
          <a:xfrm>
            <a:off x="1175411" y="2255131"/>
            <a:ext cx="2026193" cy="227035"/>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3E4A43"/>
                </a:solidFill>
                <a:latin typeface="Roboto" pitchFamily="34" charset="0"/>
                <a:ea typeface="Roboto" pitchFamily="34" charset="-122"/>
                <a:cs typeface="Roboto" pitchFamily="34" charset="-120"/>
              </a:rPr>
              <a:t>id · nome · papel</a:t>
            </a:r>
            <a:endParaRPr lang="en-US" sz="1159" dirty="0"/>
          </a:p>
        </p:txBody>
      </p:sp>
      <p:sp>
        <p:nvSpPr>
          <p:cNvPr id="18" name="Shape 5"/>
          <p:cNvSpPr/>
          <p:nvPr/>
        </p:nvSpPr>
        <p:spPr>
          <a:xfrm>
            <a:off x="1022350" y="3511528"/>
            <a:ext cx="2273300" cy="647656"/>
          </a:xfrm>
          <a:prstGeom prst="roundRect">
            <a:avLst>
              <a:gd name="adj" fmla="val 12746"/>
            </a:avLst>
          </a:prstGeom>
          <a:solidFill>
            <a:srgbClr val="123524"/>
          </a:solidFill>
          <a:ln w="12700">
            <a:solidFill>
              <a:srgbClr val="123524"/>
            </a:solidFill>
            <a:prstDash val="solid"/>
          </a:ln>
        </p:spPr>
      </p:sp>
      <p:sp>
        <p:nvSpPr>
          <p:cNvPr id="19" name="Text 6"/>
          <p:cNvSpPr/>
          <p:nvPr/>
        </p:nvSpPr>
        <p:spPr>
          <a:xfrm>
            <a:off x="1175411" y="3613767"/>
            <a:ext cx="2026193" cy="241587"/>
          </a:xfrm>
          <a:prstGeom prst="rect">
            <a:avLst/>
          </a:prstGeom>
          <a:noFill/>
          <a:ln/>
        </p:spPr>
        <p:txBody>
          <a:bodyPr wrap="square" lIns="0" tIns="0" rIns="0" bIns="0" rtlCol="0" anchor="t">
            <a:normAutofit/>
          </a:bodyPr>
          <a:lstStyle/>
          <a:p>
            <a:pPr algn="l" indent="0" marL="0">
              <a:lnSpc>
                <a:spcPts val="1721"/>
              </a:lnSpc>
              <a:buNone/>
            </a:pPr>
            <a:r>
              <a:rPr lang="en-US" sz="1434" dirty="0">
                <a:solidFill>
                  <a:srgbClr val="D7F05A"/>
                </a:solidFill>
                <a:latin typeface="Oswald" pitchFamily="34" charset="0"/>
                <a:ea typeface="Oswald" pitchFamily="34" charset="-122"/>
                <a:cs typeface="Oswald" pitchFamily="34" charset="-120"/>
              </a:rPr>
              <a:t>turmas</a:t>
            </a:r>
            <a:endParaRPr lang="en-US" sz="1434" dirty="0"/>
          </a:p>
        </p:txBody>
      </p:sp>
      <p:sp>
        <p:nvSpPr>
          <p:cNvPr id="20" name="Text 7"/>
          <p:cNvSpPr/>
          <p:nvPr/>
        </p:nvSpPr>
        <p:spPr>
          <a:xfrm>
            <a:off x="1175411" y="3855309"/>
            <a:ext cx="2026193" cy="227035"/>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E6EEE4"/>
                </a:solidFill>
                <a:latin typeface="Roboto" pitchFamily="34" charset="0"/>
                <a:ea typeface="Roboto" pitchFamily="34" charset="-122"/>
                <a:cs typeface="Roboto" pitchFamily="34" charset="-120"/>
              </a:rPr>
              <a:t>nome · professor_id</a:t>
            </a:r>
            <a:endParaRPr lang="en-US" sz="1159" dirty="0"/>
          </a:p>
        </p:txBody>
      </p:sp>
      <p:sp>
        <p:nvSpPr>
          <p:cNvPr id="21" name="Shape 8"/>
          <p:cNvSpPr/>
          <p:nvPr/>
        </p:nvSpPr>
        <p:spPr>
          <a:xfrm>
            <a:off x="1022350" y="5111703"/>
            <a:ext cx="2273300" cy="647656"/>
          </a:xfrm>
          <a:prstGeom prst="roundRect">
            <a:avLst>
              <a:gd name="adj" fmla="val 12746"/>
            </a:avLst>
          </a:prstGeom>
          <a:solidFill>
            <a:srgbClr val="FBFCF8"/>
          </a:solidFill>
          <a:ln w="12700">
            <a:solidFill>
              <a:srgbClr val="1F6F43"/>
            </a:solidFill>
            <a:prstDash val="solid"/>
          </a:ln>
        </p:spPr>
      </p:sp>
      <p:sp>
        <p:nvSpPr>
          <p:cNvPr id="22" name="Text 9"/>
          <p:cNvSpPr/>
          <p:nvPr/>
        </p:nvSpPr>
        <p:spPr>
          <a:xfrm>
            <a:off x="1175411" y="5213945"/>
            <a:ext cx="2026193" cy="241587"/>
          </a:xfrm>
          <a:prstGeom prst="rect">
            <a:avLst/>
          </a:prstGeom>
          <a:noFill/>
          <a:ln/>
        </p:spPr>
        <p:txBody>
          <a:bodyPr wrap="square" lIns="0" tIns="0" rIns="0" bIns="0" rtlCol="0" anchor="t">
            <a:normAutofit/>
          </a:bodyPr>
          <a:lstStyle/>
          <a:p>
            <a:pPr algn="l" indent="0" marL="0">
              <a:lnSpc>
                <a:spcPts val="1721"/>
              </a:lnSpc>
              <a:buNone/>
            </a:pPr>
            <a:r>
              <a:rPr lang="en-US" sz="1434" dirty="0">
                <a:solidFill>
                  <a:srgbClr val="123524"/>
                </a:solidFill>
                <a:latin typeface="Oswald" pitchFamily="34" charset="0"/>
                <a:ea typeface="Oswald" pitchFamily="34" charset="-122"/>
                <a:cs typeface="Oswald" pitchFamily="34" charset="-120"/>
              </a:rPr>
              <a:t>convites</a:t>
            </a:r>
            <a:endParaRPr lang="en-US" sz="1434" dirty="0"/>
          </a:p>
        </p:txBody>
      </p:sp>
      <p:sp>
        <p:nvSpPr>
          <p:cNvPr id="23" name="Text 10"/>
          <p:cNvSpPr/>
          <p:nvPr/>
        </p:nvSpPr>
        <p:spPr>
          <a:xfrm>
            <a:off x="1175411" y="5455487"/>
            <a:ext cx="2026193" cy="227035"/>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3E4A43"/>
                </a:solidFill>
                <a:latin typeface="Roboto" pitchFamily="34" charset="0"/>
                <a:ea typeface="Roboto" pitchFamily="34" charset="-122"/>
                <a:cs typeface="Roboto" pitchFamily="34" charset="-120"/>
              </a:rPr>
              <a:t>codigo · expira_em</a:t>
            </a:r>
            <a:endParaRPr lang="en-US" sz="1159" dirty="0"/>
          </a:p>
        </p:txBody>
      </p:sp>
      <p:sp>
        <p:nvSpPr>
          <p:cNvPr id="24" name="Shape 11"/>
          <p:cNvSpPr/>
          <p:nvPr/>
        </p:nvSpPr>
        <p:spPr>
          <a:xfrm>
            <a:off x="4832350" y="1911350"/>
            <a:ext cx="2527300" cy="647656"/>
          </a:xfrm>
          <a:prstGeom prst="roundRect">
            <a:avLst>
              <a:gd name="adj" fmla="val 12746"/>
            </a:avLst>
          </a:prstGeom>
          <a:solidFill>
            <a:srgbClr val="FBFCF8"/>
          </a:solidFill>
          <a:ln w="12700">
            <a:solidFill>
              <a:srgbClr val="1F6F43"/>
            </a:solidFill>
            <a:prstDash val="solid"/>
          </a:ln>
        </p:spPr>
      </p:sp>
      <p:sp>
        <p:nvSpPr>
          <p:cNvPr id="25" name="Text 12"/>
          <p:cNvSpPr/>
          <p:nvPr/>
        </p:nvSpPr>
        <p:spPr>
          <a:xfrm>
            <a:off x="4985412" y="2013589"/>
            <a:ext cx="2287813" cy="241587"/>
          </a:xfrm>
          <a:prstGeom prst="rect">
            <a:avLst/>
          </a:prstGeom>
          <a:noFill/>
          <a:ln/>
        </p:spPr>
        <p:txBody>
          <a:bodyPr wrap="square" lIns="0" tIns="0" rIns="0" bIns="0" rtlCol="0" anchor="t">
            <a:normAutofit/>
          </a:bodyPr>
          <a:lstStyle/>
          <a:p>
            <a:pPr algn="l" indent="0" marL="0">
              <a:lnSpc>
                <a:spcPts val="1721"/>
              </a:lnSpc>
              <a:buNone/>
            </a:pPr>
            <a:r>
              <a:rPr lang="en-US" sz="1434" dirty="0">
                <a:solidFill>
                  <a:srgbClr val="123524"/>
                </a:solidFill>
                <a:latin typeface="Oswald" pitchFamily="34" charset="0"/>
                <a:ea typeface="Oswald" pitchFamily="34" charset="-122"/>
                <a:cs typeface="Oswald" pitchFamily="34" charset="-120"/>
              </a:rPr>
              <a:t>turma_alunos</a:t>
            </a:r>
            <a:endParaRPr lang="en-US" sz="1434" dirty="0"/>
          </a:p>
        </p:txBody>
      </p:sp>
      <p:sp>
        <p:nvSpPr>
          <p:cNvPr id="26" name="Text 13"/>
          <p:cNvSpPr/>
          <p:nvPr/>
        </p:nvSpPr>
        <p:spPr>
          <a:xfrm>
            <a:off x="4985412" y="2255131"/>
            <a:ext cx="2287813" cy="227035"/>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3E4A43"/>
                </a:solidFill>
                <a:latin typeface="Roboto" pitchFamily="34" charset="0"/>
                <a:ea typeface="Roboto" pitchFamily="34" charset="-122"/>
                <a:cs typeface="Roboto" pitchFamily="34" charset="-120"/>
              </a:rPr>
              <a:t>turma_id · aluno_id</a:t>
            </a:r>
            <a:endParaRPr lang="en-US" sz="1159" dirty="0"/>
          </a:p>
        </p:txBody>
      </p:sp>
      <p:sp>
        <p:nvSpPr>
          <p:cNvPr id="27" name="Shape 14"/>
          <p:cNvSpPr/>
          <p:nvPr/>
        </p:nvSpPr>
        <p:spPr>
          <a:xfrm>
            <a:off x="4832350" y="2711382"/>
            <a:ext cx="2527300" cy="647656"/>
          </a:xfrm>
          <a:prstGeom prst="roundRect">
            <a:avLst>
              <a:gd name="adj" fmla="val 12746"/>
            </a:avLst>
          </a:prstGeom>
          <a:solidFill>
            <a:srgbClr val="FBFCF8"/>
          </a:solidFill>
          <a:ln w="12700">
            <a:solidFill>
              <a:srgbClr val="1F6F43"/>
            </a:solidFill>
            <a:prstDash val="solid"/>
          </a:ln>
        </p:spPr>
      </p:sp>
      <p:sp>
        <p:nvSpPr>
          <p:cNvPr id="28" name="Text 15"/>
          <p:cNvSpPr/>
          <p:nvPr/>
        </p:nvSpPr>
        <p:spPr>
          <a:xfrm>
            <a:off x="4985412" y="2813624"/>
            <a:ext cx="2287813" cy="241587"/>
          </a:xfrm>
          <a:prstGeom prst="rect">
            <a:avLst/>
          </a:prstGeom>
          <a:noFill/>
          <a:ln/>
        </p:spPr>
        <p:txBody>
          <a:bodyPr wrap="square" lIns="0" tIns="0" rIns="0" bIns="0" rtlCol="0" anchor="t">
            <a:normAutofit/>
          </a:bodyPr>
          <a:lstStyle/>
          <a:p>
            <a:pPr algn="l" indent="0" marL="0">
              <a:lnSpc>
                <a:spcPts val="1721"/>
              </a:lnSpc>
              <a:buNone/>
            </a:pPr>
            <a:r>
              <a:rPr lang="en-US" sz="1434" dirty="0">
                <a:solidFill>
                  <a:srgbClr val="123524"/>
                </a:solidFill>
                <a:latin typeface="Oswald" pitchFamily="34" charset="0"/>
                <a:ea typeface="Oswald" pitchFamily="34" charset="-122"/>
                <a:cs typeface="Oswald" pitchFamily="34" charset="-120"/>
              </a:rPr>
              <a:t>aulas</a:t>
            </a:r>
            <a:endParaRPr lang="en-US" sz="1434" dirty="0"/>
          </a:p>
        </p:txBody>
      </p:sp>
      <p:sp>
        <p:nvSpPr>
          <p:cNvPr id="29" name="Text 16"/>
          <p:cNvSpPr/>
          <p:nvPr/>
        </p:nvSpPr>
        <p:spPr>
          <a:xfrm>
            <a:off x="4985412" y="3055165"/>
            <a:ext cx="2287813" cy="227035"/>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3E4A43"/>
                </a:solidFill>
                <a:latin typeface="Roboto" pitchFamily="34" charset="0"/>
                <a:ea typeface="Roboto" pitchFamily="34" charset="-122"/>
                <a:cs typeface="Roboto" pitchFamily="34" charset="-120"/>
              </a:rPr>
              <a:t>inicio · quadra · vagas</a:t>
            </a:r>
            <a:endParaRPr lang="en-US" sz="1159" dirty="0"/>
          </a:p>
        </p:txBody>
      </p:sp>
      <p:sp>
        <p:nvSpPr>
          <p:cNvPr id="30" name="Shape 17"/>
          <p:cNvSpPr/>
          <p:nvPr/>
        </p:nvSpPr>
        <p:spPr>
          <a:xfrm>
            <a:off x="4832350" y="3511528"/>
            <a:ext cx="2527300" cy="647656"/>
          </a:xfrm>
          <a:prstGeom prst="roundRect">
            <a:avLst>
              <a:gd name="adj" fmla="val 12746"/>
            </a:avLst>
          </a:prstGeom>
          <a:solidFill>
            <a:srgbClr val="FBFCF8"/>
          </a:solidFill>
          <a:ln w="12700">
            <a:solidFill>
              <a:srgbClr val="1F6F43"/>
            </a:solidFill>
            <a:prstDash val="solid"/>
          </a:ln>
        </p:spPr>
      </p:sp>
      <p:sp>
        <p:nvSpPr>
          <p:cNvPr id="31" name="Text 18"/>
          <p:cNvSpPr/>
          <p:nvPr/>
        </p:nvSpPr>
        <p:spPr>
          <a:xfrm>
            <a:off x="4985412" y="3613767"/>
            <a:ext cx="2287813" cy="241587"/>
          </a:xfrm>
          <a:prstGeom prst="rect">
            <a:avLst/>
          </a:prstGeom>
          <a:noFill/>
          <a:ln/>
        </p:spPr>
        <p:txBody>
          <a:bodyPr wrap="square" lIns="0" tIns="0" rIns="0" bIns="0" rtlCol="0" anchor="t">
            <a:normAutofit/>
          </a:bodyPr>
          <a:lstStyle/>
          <a:p>
            <a:pPr algn="l" indent="0" marL="0">
              <a:lnSpc>
                <a:spcPts val="1721"/>
              </a:lnSpc>
              <a:buNone/>
            </a:pPr>
            <a:r>
              <a:rPr lang="en-US" sz="1434" dirty="0">
                <a:solidFill>
                  <a:srgbClr val="123524"/>
                </a:solidFill>
                <a:latin typeface="Oswald" pitchFamily="34" charset="0"/>
                <a:ea typeface="Oswald" pitchFamily="34" charset="-122"/>
                <a:cs typeface="Oswald" pitchFamily="34" charset="-120"/>
              </a:rPr>
              <a:t>presencas</a:t>
            </a:r>
            <a:endParaRPr lang="en-US" sz="1434" dirty="0"/>
          </a:p>
        </p:txBody>
      </p:sp>
      <p:sp>
        <p:nvSpPr>
          <p:cNvPr id="32" name="Text 19"/>
          <p:cNvSpPr/>
          <p:nvPr/>
        </p:nvSpPr>
        <p:spPr>
          <a:xfrm>
            <a:off x="4985412" y="3855309"/>
            <a:ext cx="2287813" cy="227035"/>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3E4A43"/>
                </a:solidFill>
                <a:latin typeface="Roboto" pitchFamily="34" charset="0"/>
                <a:ea typeface="Roboto" pitchFamily="34" charset="-122"/>
                <a:cs typeface="Roboto" pitchFamily="34" charset="-120"/>
              </a:rPr>
              <a:t>aluno_id · status</a:t>
            </a:r>
            <a:endParaRPr lang="en-US" sz="1159" dirty="0"/>
          </a:p>
        </p:txBody>
      </p:sp>
      <p:sp>
        <p:nvSpPr>
          <p:cNvPr id="33" name="Shape 20"/>
          <p:cNvSpPr/>
          <p:nvPr/>
        </p:nvSpPr>
        <p:spPr>
          <a:xfrm>
            <a:off x="4832350" y="4311560"/>
            <a:ext cx="2527300" cy="647656"/>
          </a:xfrm>
          <a:prstGeom prst="roundRect">
            <a:avLst>
              <a:gd name="adj" fmla="val 12746"/>
            </a:avLst>
          </a:prstGeom>
          <a:solidFill>
            <a:srgbClr val="FBFCF8"/>
          </a:solidFill>
          <a:ln w="12700">
            <a:solidFill>
              <a:srgbClr val="1F6F43"/>
            </a:solidFill>
            <a:prstDash val="solid"/>
          </a:ln>
        </p:spPr>
      </p:sp>
      <p:sp>
        <p:nvSpPr>
          <p:cNvPr id="34" name="Text 21"/>
          <p:cNvSpPr/>
          <p:nvPr/>
        </p:nvSpPr>
        <p:spPr>
          <a:xfrm>
            <a:off x="4985412" y="4413799"/>
            <a:ext cx="2287813" cy="241587"/>
          </a:xfrm>
          <a:prstGeom prst="rect">
            <a:avLst/>
          </a:prstGeom>
          <a:noFill/>
          <a:ln/>
        </p:spPr>
        <p:txBody>
          <a:bodyPr wrap="square" lIns="0" tIns="0" rIns="0" bIns="0" rtlCol="0" anchor="t">
            <a:normAutofit/>
          </a:bodyPr>
          <a:lstStyle/>
          <a:p>
            <a:pPr algn="l" indent="0" marL="0">
              <a:lnSpc>
                <a:spcPts val="1721"/>
              </a:lnSpc>
              <a:buNone/>
            </a:pPr>
            <a:r>
              <a:rPr lang="en-US" sz="1434" dirty="0">
                <a:solidFill>
                  <a:srgbClr val="123524"/>
                </a:solidFill>
                <a:latin typeface="Oswald" pitchFamily="34" charset="0"/>
                <a:ea typeface="Oswald" pitchFamily="34" charset="-122"/>
                <a:cs typeface="Oswald" pitchFamily="34" charset="-120"/>
              </a:rPr>
              <a:t>partidas</a:t>
            </a:r>
            <a:endParaRPr lang="en-US" sz="1434" dirty="0"/>
          </a:p>
        </p:txBody>
      </p:sp>
      <p:sp>
        <p:nvSpPr>
          <p:cNvPr id="35" name="Text 22"/>
          <p:cNvSpPr/>
          <p:nvPr/>
        </p:nvSpPr>
        <p:spPr>
          <a:xfrm>
            <a:off x="4985412" y="4655344"/>
            <a:ext cx="2287813" cy="227035"/>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3E4A43"/>
                </a:solidFill>
                <a:latin typeface="Roboto" pitchFamily="34" charset="0"/>
                <a:ea typeface="Roboto" pitchFamily="34" charset="-122"/>
                <a:cs typeface="Roboto" pitchFamily="34" charset="-120"/>
              </a:rPr>
              <a:t>jogador_a/b · sets</a:t>
            </a:r>
            <a:endParaRPr lang="en-US" sz="1159" dirty="0"/>
          </a:p>
        </p:txBody>
      </p:sp>
      <p:sp>
        <p:nvSpPr>
          <p:cNvPr id="36" name="Shape 23"/>
          <p:cNvSpPr/>
          <p:nvPr/>
        </p:nvSpPr>
        <p:spPr>
          <a:xfrm>
            <a:off x="4832350" y="5111703"/>
            <a:ext cx="2527300" cy="647656"/>
          </a:xfrm>
          <a:prstGeom prst="roundRect">
            <a:avLst>
              <a:gd name="adj" fmla="val 12746"/>
            </a:avLst>
          </a:prstGeom>
          <a:solidFill>
            <a:srgbClr val="FBFCF8"/>
          </a:solidFill>
          <a:ln w="12700">
            <a:solidFill>
              <a:srgbClr val="1F6F43"/>
            </a:solidFill>
            <a:prstDash val="solid"/>
          </a:ln>
        </p:spPr>
      </p:sp>
      <p:sp>
        <p:nvSpPr>
          <p:cNvPr id="37" name="Text 24"/>
          <p:cNvSpPr/>
          <p:nvPr/>
        </p:nvSpPr>
        <p:spPr>
          <a:xfrm>
            <a:off x="4985412" y="5213945"/>
            <a:ext cx="2287813" cy="241587"/>
          </a:xfrm>
          <a:prstGeom prst="rect">
            <a:avLst/>
          </a:prstGeom>
          <a:noFill/>
          <a:ln/>
        </p:spPr>
        <p:txBody>
          <a:bodyPr wrap="square" lIns="0" tIns="0" rIns="0" bIns="0" rtlCol="0" anchor="t">
            <a:normAutofit/>
          </a:bodyPr>
          <a:lstStyle/>
          <a:p>
            <a:pPr algn="l" indent="0" marL="0">
              <a:lnSpc>
                <a:spcPts val="1721"/>
              </a:lnSpc>
              <a:buNone/>
            </a:pPr>
            <a:r>
              <a:rPr lang="en-US" sz="1434" dirty="0">
                <a:solidFill>
                  <a:srgbClr val="123524"/>
                </a:solidFill>
                <a:latin typeface="Oswald" pitchFamily="34" charset="0"/>
                <a:ea typeface="Oswald" pitchFamily="34" charset="-122"/>
                <a:cs typeface="Oswald" pitchFamily="34" charset="-120"/>
              </a:rPr>
              <a:t>desafios</a:t>
            </a:r>
            <a:endParaRPr lang="en-US" sz="1434" dirty="0"/>
          </a:p>
        </p:txBody>
      </p:sp>
      <p:sp>
        <p:nvSpPr>
          <p:cNvPr id="38" name="Text 25"/>
          <p:cNvSpPr/>
          <p:nvPr/>
        </p:nvSpPr>
        <p:spPr>
          <a:xfrm>
            <a:off x="4985412" y="5455487"/>
            <a:ext cx="2287813" cy="227035"/>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3E4A43"/>
                </a:solidFill>
                <a:latin typeface="Roboto" pitchFamily="34" charset="0"/>
                <a:ea typeface="Roboto" pitchFamily="34" charset="-122"/>
                <a:cs typeface="Roboto" pitchFamily="34" charset="-120"/>
              </a:rPr>
              <a:t>de · para · turma_id</a:t>
            </a:r>
            <a:endParaRPr lang="en-US" sz="1159" dirty="0"/>
          </a:p>
        </p:txBody>
      </p:sp>
      <p:sp>
        <p:nvSpPr>
          <p:cNvPr id="39" name="Shape 26"/>
          <p:cNvSpPr/>
          <p:nvPr/>
        </p:nvSpPr>
        <p:spPr>
          <a:xfrm>
            <a:off x="8896351" y="3511528"/>
            <a:ext cx="2273300" cy="647656"/>
          </a:xfrm>
          <a:prstGeom prst="roundRect">
            <a:avLst>
              <a:gd name="adj" fmla="val 12746"/>
            </a:avLst>
          </a:prstGeom>
          <a:solidFill>
            <a:srgbClr val="123524"/>
          </a:solidFill>
          <a:ln w="12700">
            <a:solidFill>
              <a:srgbClr val="123524"/>
            </a:solidFill>
            <a:prstDash val="solid"/>
          </a:ln>
        </p:spPr>
      </p:sp>
      <p:sp>
        <p:nvSpPr>
          <p:cNvPr id="40" name="Text 27"/>
          <p:cNvSpPr/>
          <p:nvPr/>
        </p:nvSpPr>
        <p:spPr>
          <a:xfrm>
            <a:off x="9049412" y="3613767"/>
            <a:ext cx="2026193" cy="241587"/>
          </a:xfrm>
          <a:prstGeom prst="rect">
            <a:avLst/>
          </a:prstGeom>
          <a:noFill/>
          <a:ln/>
        </p:spPr>
        <p:txBody>
          <a:bodyPr wrap="square" lIns="0" tIns="0" rIns="0" bIns="0" rtlCol="0" anchor="t">
            <a:normAutofit/>
          </a:bodyPr>
          <a:lstStyle/>
          <a:p>
            <a:pPr algn="l" indent="0" marL="0">
              <a:lnSpc>
                <a:spcPts val="1721"/>
              </a:lnSpc>
              <a:buNone/>
            </a:pPr>
            <a:r>
              <a:rPr lang="en-US" sz="1434" dirty="0">
                <a:solidFill>
                  <a:srgbClr val="D7F05A"/>
                </a:solidFill>
                <a:latin typeface="Oswald" pitchFamily="34" charset="0"/>
                <a:ea typeface="Oswald" pitchFamily="34" charset="-122"/>
                <a:cs typeface="Oswald" pitchFamily="34" charset="-120"/>
              </a:rPr>
              <a:t>alunos</a:t>
            </a:r>
            <a:endParaRPr lang="en-US" sz="1434" dirty="0"/>
          </a:p>
        </p:txBody>
      </p:sp>
      <p:sp>
        <p:nvSpPr>
          <p:cNvPr id="41" name="Text 28"/>
          <p:cNvSpPr/>
          <p:nvPr/>
        </p:nvSpPr>
        <p:spPr>
          <a:xfrm>
            <a:off x="9049412" y="3855309"/>
            <a:ext cx="2026193" cy="227035"/>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E6EEE4"/>
                </a:solidFill>
                <a:latin typeface="Roboto" pitchFamily="34" charset="0"/>
                <a:ea typeface="Roboto" pitchFamily="34" charset="-122"/>
                <a:cs typeface="Roboto" pitchFamily="34" charset="-120"/>
              </a:rPr>
              <a:t>nivel · fundamentos</a:t>
            </a:r>
            <a:endParaRPr lang="en-US" sz="1159" dirty="0"/>
          </a:p>
        </p:txBody>
      </p:sp>
      <p:sp>
        <p:nvSpPr>
          <p:cNvPr id="42" name="Text 29"/>
          <p:cNvSpPr/>
          <p:nvPr/>
        </p:nvSpPr>
        <p:spPr>
          <a:xfrm>
            <a:off x="812712" y="6238435"/>
            <a:ext cx="9156701" cy="2386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63"/>
                </a:solidFill>
                <a:latin typeface="Roboto" pitchFamily="34" charset="0"/>
                <a:ea typeface="Roboto" pitchFamily="34" charset="-122"/>
                <a:cs typeface="Roboto" pitchFamily="34" charset="-120"/>
              </a:rPr>
              <a:t>Seta: 1 para N, apontando para o lado N. Base: schema.sql do protótipo; o DER oficial fica com Pegador e Du</a:t>
            </a:r>
            <a:endParaRPr lang="en-US" sz="1200" dirty="0"/>
          </a:p>
        </p:txBody>
      </p:sp>
      <p:sp>
        <p:nvSpPr>
          <p:cNvPr id="43" name="Text 30"/>
          <p:cNvSpPr/>
          <p:nvPr/>
        </p:nvSpPr>
        <p:spPr>
          <a:xfrm>
            <a:off x="10566488" y="6238435"/>
            <a:ext cx="812800" cy="2386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63"/>
                </a:solidFill>
                <a:latin typeface="Roboto" pitchFamily="34" charset="0"/>
                <a:ea typeface="Roboto" pitchFamily="34" charset="-122"/>
                <a:cs typeface="Roboto"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5EE"/>
        </a:solidFill>
      </p:bgPr>
    </p:bg>
    <p:spTree>
      <p:nvGrpSpPr>
        <p:cNvPr id="1" name=""/>
        <p:cNvGrpSpPr/>
        <p:nvPr/>
      </p:nvGrpSpPr>
      <p:grpSpPr>
        <a:xfrm>
          <a:off x="0" y="0"/>
          <a:ext cx="0" cy="0"/>
          <a:chOff x="0" y="0"/>
          <a:chExt cx="0" cy="0"/>
        </a:xfrm>
      </p:grpSpPr>
      <p:sp>
        <p:nvSpPr>
          <p:cNvPr id="2" name="Text 0"/>
          <p:cNvSpPr/>
          <p:nvPr/>
        </p:nvSpPr>
        <p:spPr>
          <a:xfrm>
            <a:off x="812712" y="812710"/>
            <a:ext cx="10883574" cy="23861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6F43"/>
                </a:solidFill>
                <a:latin typeface="Roboto" pitchFamily="34" charset="0"/>
                <a:ea typeface="Roboto" pitchFamily="34" charset="-122"/>
                <a:cs typeface="Roboto" pitchFamily="34" charset="-120"/>
              </a:rPr>
              <a:t>CHECAGEM CRUZADA</a:t>
            </a:r>
            <a:endParaRPr lang="en-US" sz="1200" dirty="0"/>
          </a:p>
        </p:txBody>
      </p:sp>
      <p:sp>
        <p:nvSpPr>
          <p:cNvPr id="3" name="Text 1"/>
          <p:cNvSpPr/>
          <p:nvPr>
            <p:ph type="title"/>
          </p:nvPr>
        </p:nvSpPr>
        <p:spPr>
          <a:xfrm>
            <a:off x="812712" y="1279922"/>
            <a:ext cx="10883574" cy="528219"/>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3524"/>
                </a:solidFill>
                <a:latin typeface="Oswald" pitchFamily="34" charset="0"/>
                <a:ea typeface="Oswald" pitchFamily="34" charset="-122"/>
                <a:cs typeface="Oswald" pitchFamily="34" charset="-120"/>
              </a:rPr>
              <a:t>17 dos 28 requisitos já têm tela e tabela</a:t>
            </a:r>
            <a:endParaRPr lang="en-US" sz="3600" dirty="0"/>
          </a:p>
        </p:txBody>
      </p:sp>
      <p:sp>
        <p:nvSpPr>
          <p:cNvPr id="4" name="Shape 2"/>
          <p:cNvSpPr/>
          <p:nvPr/>
        </p:nvSpPr>
        <p:spPr>
          <a:xfrm>
            <a:off x="812712" y="2036741"/>
            <a:ext cx="3377296" cy="2096382"/>
          </a:xfrm>
          <a:prstGeom prst="roundRect">
            <a:avLst>
              <a:gd name="adj" fmla="val 6058"/>
            </a:avLst>
          </a:prstGeom>
          <a:solidFill>
            <a:srgbClr val="123524"/>
          </a:solidFill>
          <a:ln/>
        </p:spPr>
      </p:sp>
      <p:sp>
        <p:nvSpPr>
          <p:cNvPr id="5" name="Text 3"/>
          <p:cNvSpPr/>
          <p:nvPr/>
        </p:nvSpPr>
        <p:spPr>
          <a:xfrm>
            <a:off x="1066712" y="2290741"/>
            <a:ext cx="2955375"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D7F05A"/>
                </a:solidFill>
                <a:latin typeface="Oswald" pitchFamily="34" charset="0"/>
                <a:ea typeface="Oswald" pitchFamily="34" charset="-122"/>
                <a:cs typeface="Oswald" pitchFamily="34" charset="-120"/>
              </a:rPr>
              <a:t>17</a:t>
            </a:r>
            <a:endParaRPr lang="en-US" sz="6000" dirty="0"/>
          </a:p>
        </p:txBody>
      </p:sp>
      <p:sp>
        <p:nvSpPr>
          <p:cNvPr id="6" name="Text 4"/>
          <p:cNvSpPr/>
          <p:nvPr/>
        </p:nvSpPr>
        <p:spPr>
          <a:xfrm>
            <a:off x="1066712" y="3103451"/>
            <a:ext cx="2955375"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3F5EE"/>
                </a:solidFill>
                <a:latin typeface="Roboto" pitchFamily="34" charset="0"/>
                <a:ea typeface="Roboto" pitchFamily="34" charset="-122"/>
                <a:cs typeface="Roboto" pitchFamily="34" charset="-120"/>
              </a:rPr>
              <a:t>Cobertos</a:t>
            </a:r>
            <a:endParaRPr lang="en-US" sz="1600" dirty="0"/>
          </a:p>
        </p:txBody>
      </p:sp>
      <p:sp>
        <p:nvSpPr>
          <p:cNvPr id="7" name="Text 5"/>
          <p:cNvSpPr/>
          <p:nvPr/>
        </p:nvSpPr>
        <p:spPr>
          <a:xfrm>
            <a:off x="1066712" y="3438590"/>
            <a:ext cx="2955375" cy="2386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8CC"/>
                </a:solidFill>
                <a:latin typeface="Roboto" pitchFamily="34" charset="0"/>
                <a:ea typeface="Roboto" pitchFamily="34" charset="-122"/>
                <a:cs typeface="Roboto" pitchFamily="34" charset="-120"/>
              </a:rPr>
              <a:t>RF, tela e tabela completos</a:t>
            </a:r>
            <a:endParaRPr lang="en-US" sz="1200" dirty="0"/>
          </a:p>
        </p:txBody>
      </p:sp>
      <p:sp>
        <p:nvSpPr>
          <p:cNvPr id="8" name="Shape 6"/>
          <p:cNvSpPr/>
          <p:nvPr/>
        </p:nvSpPr>
        <p:spPr>
          <a:xfrm>
            <a:off x="4399536" y="2043091"/>
            <a:ext cx="3378817" cy="2083682"/>
          </a:xfrm>
          <a:prstGeom prst="roundRect">
            <a:avLst>
              <a:gd name="adj" fmla="val 5790"/>
            </a:avLst>
          </a:prstGeom>
          <a:solidFill>
            <a:srgbClr val="FBFCF8"/>
          </a:solidFill>
          <a:ln w="12700">
            <a:solidFill>
              <a:srgbClr val="1F6F43"/>
            </a:solidFill>
            <a:prstDash val="solid"/>
          </a:ln>
        </p:spPr>
      </p:sp>
      <p:sp>
        <p:nvSpPr>
          <p:cNvPr id="9" name="Text 7"/>
          <p:cNvSpPr/>
          <p:nvPr/>
        </p:nvSpPr>
        <p:spPr>
          <a:xfrm>
            <a:off x="4654241" y="2297795"/>
            <a:ext cx="2955489"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1F6F43"/>
                </a:solidFill>
                <a:latin typeface="Oswald" pitchFamily="34" charset="0"/>
                <a:ea typeface="Oswald" pitchFamily="34" charset="-122"/>
                <a:cs typeface="Oswald" pitchFamily="34" charset="-120"/>
              </a:rPr>
              <a:t>8</a:t>
            </a:r>
            <a:endParaRPr lang="en-US" sz="6000" dirty="0"/>
          </a:p>
        </p:txBody>
      </p:sp>
      <p:sp>
        <p:nvSpPr>
          <p:cNvPr id="10" name="Text 8"/>
          <p:cNvSpPr/>
          <p:nvPr/>
        </p:nvSpPr>
        <p:spPr>
          <a:xfrm>
            <a:off x="4654241" y="3110508"/>
            <a:ext cx="2955489"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23524"/>
                </a:solidFill>
                <a:latin typeface="Roboto" pitchFamily="34" charset="0"/>
                <a:ea typeface="Roboto" pitchFamily="34" charset="-122"/>
                <a:cs typeface="Roboto" pitchFamily="34" charset="-120"/>
              </a:rPr>
              <a:t>Parciais</a:t>
            </a:r>
            <a:endParaRPr lang="en-US" sz="1600" dirty="0"/>
          </a:p>
        </p:txBody>
      </p:sp>
      <p:sp>
        <p:nvSpPr>
          <p:cNvPr id="11" name="Text 9"/>
          <p:cNvSpPr/>
          <p:nvPr/>
        </p:nvSpPr>
        <p:spPr>
          <a:xfrm>
            <a:off x="4654241" y="3445647"/>
            <a:ext cx="2955489" cy="4518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43"/>
                </a:solidFill>
                <a:latin typeface="Roboto" pitchFamily="34" charset="0"/>
                <a:ea typeface="Roboto" pitchFamily="34" charset="-122"/>
                <a:cs typeface="Roboto" pitchFamily="34" charset="-120"/>
              </a:rPr>
              <a:t>Cadastro, turmas, edição de aulas, calendário, notificações</a:t>
            </a:r>
            <a:endParaRPr lang="en-US" sz="1200" dirty="0"/>
          </a:p>
        </p:txBody>
      </p:sp>
      <p:sp>
        <p:nvSpPr>
          <p:cNvPr id="12" name="Shape 10"/>
          <p:cNvSpPr/>
          <p:nvPr/>
        </p:nvSpPr>
        <p:spPr>
          <a:xfrm>
            <a:off x="7994231" y="2043091"/>
            <a:ext cx="3378707" cy="2083682"/>
          </a:xfrm>
          <a:prstGeom prst="roundRect">
            <a:avLst>
              <a:gd name="adj" fmla="val 5790"/>
            </a:avLst>
          </a:prstGeom>
          <a:solidFill>
            <a:srgbClr val="FBFCF8"/>
          </a:solidFill>
          <a:ln w="12700">
            <a:solidFill>
              <a:srgbClr val="9A3B2E"/>
            </a:solidFill>
            <a:prstDash val="dash"/>
          </a:ln>
        </p:spPr>
      </p:sp>
      <p:sp>
        <p:nvSpPr>
          <p:cNvPr id="13" name="Text 11"/>
          <p:cNvSpPr/>
          <p:nvPr/>
        </p:nvSpPr>
        <p:spPr>
          <a:xfrm>
            <a:off x="8248937" y="2297795"/>
            <a:ext cx="2955375"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9A3B2E"/>
                </a:solidFill>
                <a:latin typeface="Oswald" pitchFamily="34" charset="0"/>
                <a:ea typeface="Oswald" pitchFamily="34" charset="-122"/>
                <a:cs typeface="Oswald" pitchFamily="34" charset="-120"/>
              </a:rPr>
              <a:t>3</a:t>
            </a:r>
            <a:endParaRPr lang="en-US" sz="6000" dirty="0"/>
          </a:p>
        </p:txBody>
      </p:sp>
      <p:sp>
        <p:nvSpPr>
          <p:cNvPr id="14" name="Text 12"/>
          <p:cNvSpPr/>
          <p:nvPr/>
        </p:nvSpPr>
        <p:spPr>
          <a:xfrm>
            <a:off x="8248937" y="3110508"/>
            <a:ext cx="2955375"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23524"/>
                </a:solidFill>
                <a:latin typeface="Roboto" pitchFamily="34" charset="0"/>
                <a:ea typeface="Roboto" pitchFamily="34" charset="-122"/>
                <a:cs typeface="Roboto" pitchFamily="34" charset="-120"/>
              </a:rPr>
              <a:t>Faltam</a:t>
            </a:r>
            <a:endParaRPr lang="en-US" sz="1600" dirty="0"/>
          </a:p>
        </p:txBody>
      </p:sp>
      <p:sp>
        <p:nvSpPr>
          <p:cNvPr id="15" name="Text 13"/>
          <p:cNvSpPr/>
          <p:nvPr/>
        </p:nvSpPr>
        <p:spPr>
          <a:xfrm>
            <a:off x="8248937" y="3445647"/>
            <a:ext cx="2955375" cy="4518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43"/>
                </a:solidFill>
                <a:latin typeface="Roboto" pitchFamily="34" charset="0"/>
                <a:ea typeface="Roboto" pitchFamily="34" charset="-122"/>
                <a:cs typeface="Roboto" pitchFamily="34" charset="-120"/>
              </a:rPr>
              <a:t>Anotações, conteúdos e entrega de atividades (RF20 a RF22)</a:t>
            </a:r>
            <a:endParaRPr lang="en-US" sz="1200" dirty="0"/>
          </a:p>
        </p:txBody>
      </p:sp>
      <p:sp>
        <p:nvSpPr>
          <p:cNvPr id="16" name="Text 14"/>
          <p:cNvSpPr/>
          <p:nvPr/>
        </p:nvSpPr>
        <p:spPr>
          <a:xfrm>
            <a:off x="812712" y="4387121"/>
            <a:ext cx="11379288" cy="27432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43"/>
                </a:solidFill>
                <a:latin typeface="Roboto" pitchFamily="34" charset="0"/>
                <a:ea typeface="Roboto" pitchFamily="34" charset="-122"/>
                <a:cs typeface="Roboto" pitchFamily="34" charset="-120"/>
              </a:rPr>
              <a:t>Os parciais e os que faltam entram na Etapa 2. A tabela completa está no documento de checagem cruzada (KAN-8).</a:t>
            </a:r>
            <a:endParaRPr lang="en-US" sz="1400" dirty="0"/>
          </a:p>
        </p:txBody>
      </p:sp>
      <p:sp>
        <p:nvSpPr>
          <p:cNvPr id="17" name="Text 15"/>
          <p:cNvSpPr/>
          <p:nvPr/>
        </p:nvSpPr>
        <p:spPr>
          <a:xfrm>
            <a:off x="10566488" y="6238432"/>
            <a:ext cx="812800" cy="2386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63"/>
                </a:solidFill>
                <a:latin typeface="Roboto" pitchFamily="34" charset="0"/>
                <a:ea typeface="Roboto" pitchFamily="34" charset="-122"/>
                <a:cs typeface="Roboto"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5EE"/>
        </a:solidFill>
      </p:bgPr>
    </p:bg>
    <p:spTree>
      <p:nvGrpSpPr>
        <p:cNvPr id="1" name=""/>
        <p:cNvGrpSpPr/>
        <p:nvPr/>
      </p:nvGrpSpPr>
      <p:grpSpPr>
        <a:xfrm>
          <a:off x="0" y="0"/>
          <a:ext cx="0" cy="0"/>
          <a:chOff x="0" y="0"/>
          <a:chExt cx="0" cy="0"/>
        </a:xfrm>
      </p:grpSpPr>
      <p:sp>
        <p:nvSpPr>
          <p:cNvPr id="2" name="Text 0"/>
          <p:cNvSpPr/>
          <p:nvPr/>
        </p:nvSpPr>
        <p:spPr>
          <a:xfrm>
            <a:off x="812712" y="812713"/>
            <a:ext cx="10883574" cy="23861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6F43"/>
                </a:solidFill>
                <a:latin typeface="Roboto" pitchFamily="34" charset="0"/>
                <a:ea typeface="Roboto" pitchFamily="34" charset="-122"/>
                <a:cs typeface="Roboto" pitchFamily="34" charset="-120"/>
              </a:rPr>
              <a:t>PRÓXIMOS PASSOS</a:t>
            </a:r>
            <a:endParaRPr lang="en-US" sz="1200" dirty="0"/>
          </a:p>
        </p:txBody>
      </p:sp>
      <p:sp>
        <p:nvSpPr>
          <p:cNvPr id="3" name="Text 1"/>
          <p:cNvSpPr/>
          <p:nvPr>
            <p:ph type="title"/>
          </p:nvPr>
        </p:nvSpPr>
        <p:spPr>
          <a:xfrm>
            <a:off x="812712" y="1279922"/>
            <a:ext cx="10883574" cy="528219"/>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3524"/>
                </a:solidFill>
                <a:latin typeface="Oswald" pitchFamily="34" charset="0"/>
                <a:ea typeface="Oswald" pitchFamily="34" charset="-122"/>
                <a:cs typeface="Oswald" pitchFamily="34" charset="-120"/>
              </a:rPr>
              <a:t>Etapa 2: do protótipo ao app</a:t>
            </a:r>
            <a:endParaRPr lang="en-US" sz="3600" dirty="0"/>
          </a:p>
        </p:txBody>
      </p:sp>
      <p:sp>
        <p:nvSpPr>
          <p:cNvPr id="4" name="Shape 2"/>
          <p:cNvSpPr/>
          <p:nvPr/>
        </p:nvSpPr>
        <p:spPr>
          <a:xfrm>
            <a:off x="815887" y="2039919"/>
            <a:ext cx="5175294" cy="1424936"/>
          </a:xfrm>
          <a:prstGeom prst="roundRect">
            <a:avLst>
              <a:gd name="adj" fmla="val 8690"/>
            </a:avLst>
          </a:prstGeom>
          <a:solidFill>
            <a:srgbClr val="FBFCF8"/>
          </a:solidFill>
          <a:ln w="6350">
            <a:solidFill>
              <a:srgbClr val="D9E0D5"/>
            </a:solidFill>
            <a:prstDash val="solid"/>
          </a:ln>
        </p:spPr>
      </p:sp>
      <p:sp>
        <p:nvSpPr>
          <p:cNvPr id="5" name="Text 3"/>
          <p:cNvSpPr/>
          <p:nvPr/>
        </p:nvSpPr>
        <p:spPr>
          <a:xfrm>
            <a:off x="1073767" y="2297801"/>
            <a:ext cx="4799319" cy="360539"/>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1F6F43"/>
                </a:solidFill>
                <a:latin typeface="Oswald" pitchFamily="34" charset="0"/>
                <a:ea typeface="Oswald" pitchFamily="34" charset="-122"/>
                <a:cs typeface="Oswald" pitchFamily="34" charset="-120"/>
              </a:rPr>
              <a:t>1. App em Flutter</a:t>
            </a:r>
            <a:endParaRPr lang="en-US" sz="2200" dirty="0"/>
          </a:p>
        </p:txBody>
      </p:sp>
      <p:sp>
        <p:nvSpPr>
          <p:cNvPr id="6" name="Text 4"/>
          <p:cNvSpPr/>
          <p:nvPr/>
        </p:nvSpPr>
        <p:spPr>
          <a:xfrm>
            <a:off x="1073767" y="2709118"/>
            <a:ext cx="4799319" cy="523258"/>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43"/>
                </a:solidFill>
                <a:latin typeface="Roboto" pitchFamily="34" charset="0"/>
                <a:ea typeface="Roboto" pitchFamily="34" charset="-122"/>
                <a:cs typeface="Roboto" pitchFamily="34" charset="-120"/>
              </a:rPr>
              <a:t>Sobre o mesmo Supabase e as mesmas regras do protótipo</a:t>
            </a:r>
            <a:endParaRPr lang="en-US" sz="1400" dirty="0"/>
          </a:p>
        </p:txBody>
      </p:sp>
      <p:sp>
        <p:nvSpPr>
          <p:cNvPr id="7" name="Shape 5"/>
          <p:cNvSpPr/>
          <p:nvPr/>
        </p:nvSpPr>
        <p:spPr>
          <a:xfrm>
            <a:off x="6200709" y="2039919"/>
            <a:ext cx="5175405" cy="1424936"/>
          </a:xfrm>
          <a:prstGeom prst="roundRect">
            <a:avLst>
              <a:gd name="adj" fmla="val 8690"/>
            </a:avLst>
          </a:prstGeom>
          <a:solidFill>
            <a:srgbClr val="FBFCF8"/>
          </a:solidFill>
          <a:ln w="6350">
            <a:solidFill>
              <a:srgbClr val="D9E0D5"/>
            </a:solidFill>
            <a:prstDash val="solid"/>
          </a:ln>
        </p:spPr>
      </p:sp>
      <p:sp>
        <p:nvSpPr>
          <p:cNvPr id="8" name="Text 6"/>
          <p:cNvSpPr/>
          <p:nvPr/>
        </p:nvSpPr>
        <p:spPr>
          <a:xfrm>
            <a:off x="6458590" y="2297801"/>
            <a:ext cx="4799433" cy="360539"/>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1F6F43"/>
                </a:solidFill>
                <a:latin typeface="Oswald" pitchFamily="34" charset="0"/>
                <a:ea typeface="Oswald" pitchFamily="34" charset="-122"/>
                <a:cs typeface="Oswald" pitchFamily="34" charset="-120"/>
              </a:rPr>
              <a:t>2. Contas e turmas</a:t>
            </a:r>
            <a:endParaRPr lang="en-US" sz="2200" dirty="0"/>
          </a:p>
        </p:txBody>
      </p:sp>
      <p:sp>
        <p:nvSpPr>
          <p:cNvPr id="9" name="Text 7"/>
          <p:cNvSpPr/>
          <p:nvPr/>
        </p:nvSpPr>
        <p:spPr>
          <a:xfrm>
            <a:off x="6458590" y="2709118"/>
            <a:ext cx="4799433" cy="523258"/>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43"/>
                </a:solidFill>
                <a:latin typeface="Roboto" pitchFamily="34" charset="0"/>
                <a:ea typeface="Roboto" pitchFamily="34" charset="-122"/>
                <a:cs typeface="Roboto" pitchFamily="34" charset="-120"/>
              </a:rPr>
              <a:t>Cadastro de professor e aluno e gestão de turmas (RF01, RF02, RF10)</a:t>
            </a:r>
            <a:endParaRPr lang="en-US" sz="1400" dirty="0"/>
          </a:p>
        </p:txBody>
      </p:sp>
      <p:sp>
        <p:nvSpPr>
          <p:cNvPr id="10" name="Shape 8"/>
          <p:cNvSpPr/>
          <p:nvPr/>
        </p:nvSpPr>
        <p:spPr>
          <a:xfrm>
            <a:off x="815887" y="3674380"/>
            <a:ext cx="5175294" cy="1424936"/>
          </a:xfrm>
          <a:prstGeom prst="roundRect">
            <a:avLst>
              <a:gd name="adj" fmla="val 8690"/>
            </a:avLst>
          </a:prstGeom>
          <a:solidFill>
            <a:srgbClr val="FBFCF8"/>
          </a:solidFill>
          <a:ln w="6350">
            <a:solidFill>
              <a:srgbClr val="D9E0D5"/>
            </a:solidFill>
            <a:prstDash val="solid"/>
          </a:ln>
        </p:spPr>
      </p:sp>
      <p:sp>
        <p:nvSpPr>
          <p:cNvPr id="11" name="Text 9"/>
          <p:cNvSpPr/>
          <p:nvPr/>
        </p:nvSpPr>
        <p:spPr>
          <a:xfrm>
            <a:off x="1073767" y="3932262"/>
            <a:ext cx="4799319" cy="360539"/>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1F6F43"/>
                </a:solidFill>
                <a:latin typeface="Oswald" pitchFamily="34" charset="0"/>
                <a:ea typeface="Oswald" pitchFamily="34" charset="-122"/>
                <a:cs typeface="Oswald" pitchFamily="34" charset="-120"/>
              </a:rPr>
              <a:t>3. Conteúdo das aulas</a:t>
            </a:r>
            <a:endParaRPr lang="en-US" sz="2200" dirty="0"/>
          </a:p>
        </p:txBody>
      </p:sp>
      <p:sp>
        <p:nvSpPr>
          <p:cNvPr id="12" name="Text 10"/>
          <p:cNvSpPr/>
          <p:nvPr/>
        </p:nvSpPr>
        <p:spPr>
          <a:xfrm>
            <a:off x="1073767" y="4343580"/>
            <a:ext cx="4799319" cy="523258"/>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43"/>
                </a:solidFill>
                <a:latin typeface="Roboto" pitchFamily="34" charset="0"/>
                <a:ea typeface="Roboto" pitchFamily="34" charset="-122"/>
                <a:cs typeface="Roboto" pitchFamily="34" charset="-120"/>
              </a:rPr>
              <a:t>Anotações, conteúdos e entrega de atividades (RF20 a RF22)</a:t>
            </a:r>
            <a:endParaRPr lang="en-US" sz="1400" dirty="0"/>
          </a:p>
        </p:txBody>
      </p:sp>
      <p:sp>
        <p:nvSpPr>
          <p:cNvPr id="13" name="Shape 11"/>
          <p:cNvSpPr/>
          <p:nvPr/>
        </p:nvSpPr>
        <p:spPr>
          <a:xfrm>
            <a:off x="6200709" y="3674380"/>
            <a:ext cx="5175405" cy="1424936"/>
          </a:xfrm>
          <a:prstGeom prst="roundRect">
            <a:avLst>
              <a:gd name="adj" fmla="val 8690"/>
            </a:avLst>
          </a:prstGeom>
          <a:solidFill>
            <a:srgbClr val="FBFCF8"/>
          </a:solidFill>
          <a:ln w="6350">
            <a:solidFill>
              <a:srgbClr val="D9E0D5"/>
            </a:solidFill>
            <a:prstDash val="solid"/>
          </a:ln>
        </p:spPr>
      </p:sp>
      <p:sp>
        <p:nvSpPr>
          <p:cNvPr id="14" name="Text 12"/>
          <p:cNvSpPr/>
          <p:nvPr/>
        </p:nvSpPr>
        <p:spPr>
          <a:xfrm>
            <a:off x="6458590" y="3932262"/>
            <a:ext cx="4799433" cy="360539"/>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1F6F43"/>
                </a:solidFill>
                <a:latin typeface="Oswald" pitchFamily="34" charset="0"/>
                <a:ea typeface="Oswald" pitchFamily="34" charset="-122"/>
                <a:cs typeface="Oswald" pitchFamily="34" charset="-120"/>
              </a:rPr>
              <a:t>4. Documentação</a:t>
            </a:r>
            <a:endParaRPr lang="en-US" sz="2200" dirty="0"/>
          </a:p>
        </p:txBody>
      </p:sp>
      <p:sp>
        <p:nvSpPr>
          <p:cNvPr id="15" name="Text 13"/>
          <p:cNvSpPr/>
          <p:nvPr/>
        </p:nvSpPr>
        <p:spPr>
          <a:xfrm>
            <a:off x="6458590" y="4343580"/>
            <a:ext cx="4799433" cy="523258"/>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43"/>
                </a:solidFill>
                <a:latin typeface="Roboto" pitchFamily="34" charset="0"/>
                <a:ea typeface="Roboto" pitchFamily="34" charset="-122"/>
                <a:cs typeface="Roboto" pitchFamily="34" charset="-120"/>
              </a:rPr>
              <a:t>DER oficial, diagrama de casos de uso e seção de stack atualizados</a:t>
            </a:r>
            <a:endParaRPr lang="en-US" sz="1400" dirty="0"/>
          </a:p>
        </p:txBody>
      </p:sp>
      <p:sp>
        <p:nvSpPr>
          <p:cNvPr id="16" name="Text 14"/>
          <p:cNvSpPr/>
          <p:nvPr/>
        </p:nvSpPr>
        <p:spPr>
          <a:xfrm>
            <a:off x="10566488" y="6238435"/>
            <a:ext cx="812800" cy="2386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63"/>
                </a:solidFill>
                <a:latin typeface="Roboto" pitchFamily="34" charset="0"/>
                <a:ea typeface="Roboto" pitchFamily="34" charset="-122"/>
                <a:cs typeface="Roboto"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D7F05A"/>
        </a:solidFill>
      </p:bgPr>
    </p:bg>
    <p:spTree>
      <p:nvGrpSpPr>
        <p:cNvPr id="1" name=""/>
        <p:cNvGrpSpPr/>
        <p:nvPr/>
      </p:nvGrpSpPr>
      <p:grpSpPr>
        <a:xfrm>
          <a:off x="0" y="0"/>
          <a:ext cx="0" cy="0"/>
          <a:chOff x="0" y="0"/>
          <a:chExt cx="0" cy="0"/>
        </a:xfrm>
      </p:grpSpPr>
      <p:sp>
        <p:nvSpPr>
          <p:cNvPr id="2" name="Text 0"/>
          <p:cNvSpPr/>
          <p:nvPr>
            <p:ph type="title"/>
          </p:nvPr>
        </p:nvSpPr>
        <p:spPr>
          <a:xfrm>
            <a:off x="812712" y="2600970"/>
            <a:ext cx="4500114" cy="1041400"/>
          </a:xfrm>
          <a:prstGeom prst="rect">
            <a:avLst/>
          </a:prstGeom>
          <a:noFill/>
          <a:ln/>
        </p:spPr>
        <p:txBody>
          <a:bodyPr wrap="square" lIns="0" tIns="0" rIns="0" bIns="0" rtlCol="0" anchor="t">
            <a:normAutofit/>
          </a:bodyPr>
          <a:lstStyle/>
          <a:p>
            <a:pPr algn="l" indent="0" marL="0">
              <a:lnSpc>
                <a:spcPts val="8000"/>
              </a:lnSpc>
              <a:buNone/>
            </a:pPr>
            <a:r>
              <a:rPr lang="en-US" sz="8000" b="1" i="0" dirty="0">
                <a:solidFill>
                  <a:srgbClr val="123524"/>
                </a:solidFill>
                <a:latin typeface="Oswald" pitchFamily="34" charset="0"/>
                <a:ea typeface="Oswald" pitchFamily="34" charset="-122"/>
                <a:cs typeface="Oswald" pitchFamily="34" charset="-120"/>
              </a:rPr>
              <a:t>Obrigado!</a:t>
            </a:r>
            <a:endParaRPr lang="en-US" sz="8000" dirty="0"/>
          </a:p>
        </p:txBody>
      </p:sp>
      <p:sp>
        <p:nvSpPr>
          <p:cNvPr id="3" name="Text 1"/>
          <p:cNvSpPr/>
          <p:nvPr/>
        </p:nvSpPr>
        <p:spPr>
          <a:xfrm>
            <a:off x="812712" y="3769327"/>
            <a:ext cx="4500114"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3524"/>
                </a:solidFill>
                <a:latin typeface="Roboto" pitchFamily="34" charset="0"/>
                <a:ea typeface="Roboto" pitchFamily="34" charset="-122"/>
                <a:cs typeface="Roboto" pitchFamily="34" charset="-120"/>
              </a:rPr>
              <a:t>Perguntas?</a:t>
            </a:r>
            <a:endParaRPr lang="en-US" sz="1600" dirty="0"/>
          </a:p>
        </p:txBody>
      </p:sp>
      <p:sp>
        <p:nvSpPr>
          <p:cNvPr id="4" name="Shape 2"/>
          <p:cNvSpPr/>
          <p:nvPr/>
        </p:nvSpPr>
        <p:spPr>
          <a:xfrm>
            <a:off x="5791288" y="1791078"/>
            <a:ext cx="5588000" cy="0"/>
          </a:xfrm>
          <a:prstGeom prst="line">
            <a:avLst/>
          </a:prstGeom>
          <a:noFill/>
          <a:ln w="12700">
            <a:solidFill>
              <a:srgbClr val="123524"/>
            </a:solidFill>
            <a:prstDash val="solid"/>
          </a:ln>
        </p:spPr>
      </p:sp>
      <p:sp>
        <p:nvSpPr>
          <p:cNvPr id="5" name="Text 3"/>
          <p:cNvSpPr/>
          <p:nvPr/>
        </p:nvSpPr>
        <p:spPr>
          <a:xfrm>
            <a:off x="5791288" y="1918785"/>
            <a:ext cx="5755640"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23524"/>
                </a:solidFill>
                <a:latin typeface="Roboto" pitchFamily="34" charset="0"/>
                <a:ea typeface="Roboto" pitchFamily="34" charset="-122"/>
                <a:cs typeface="Roboto" pitchFamily="34" charset="-120"/>
              </a:rPr>
              <a:t>Luiz Henrique</a:t>
            </a:r>
            <a:endParaRPr lang="en-US" sz="1600" dirty="0"/>
          </a:p>
        </p:txBody>
      </p:sp>
      <p:sp>
        <p:nvSpPr>
          <p:cNvPr id="6" name="Text 4"/>
          <p:cNvSpPr/>
          <p:nvPr/>
        </p:nvSpPr>
        <p:spPr>
          <a:xfrm>
            <a:off x="5791288" y="2228565"/>
            <a:ext cx="5755640" cy="2386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4A36"/>
                </a:solidFill>
                <a:latin typeface="Roboto" pitchFamily="34" charset="0"/>
                <a:ea typeface="Roboto" pitchFamily="34" charset="-122"/>
                <a:cs typeface="Roboto" pitchFamily="34" charset="-120"/>
              </a:rPr>
              <a:t>Coordenação e Product Owner</a:t>
            </a:r>
            <a:endParaRPr lang="en-US" sz="1200" dirty="0"/>
          </a:p>
        </p:txBody>
      </p:sp>
      <p:sp>
        <p:nvSpPr>
          <p:cNvPr id="7" name="Shape 5"/>
          <p:cNvSpPr/>
          <p:nvPr/>
        </p:nvSpPr>
        <p:spPr>
          <a:xfrm>
            <a:off x="5791288" y="2600480"/>
            <a:ext cx="5588000" cy="0"/>
          </a:xfrm>
          <a:prstGeom prst="line">
            <a:avLst/>
          </a:prstGeom>
          <a:noFill/>
          <a:ln w="12700">
            <a:solidFill>
              <a:srgbClr val="123524"/>
            </a:solidFill>
            <a:prstDash val="solid"/>
          </a:ln>
        </p:spPr>
      </p:sp>
      <p:sp>
        <p:nvSpPr>
          <p:cNvPr id="8" name="Text 6"/>
          <p:cNvSpPr/>
          <p:nvPr/>
        </p:nvSpPr>
        <p:spPr>
          <a:xfrm>
            <a:off x="5791288" y="2728187"/>
            <a:ext cx="5755640"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23524"/>
                </a:solidFill>
                <a:latin typeface="Roboto" pitchFamily="34" charset="0"/>
                <a:ea typeface="Roboto" pitchFamily="34" charset="-122"/>
                <a:cs typeface="Roboto" pitchFamily="34" charset="-120"/>
              </a:rPr>
              <a:t>Gabriel Sousa (Biel) e Túlio</a:t>
            </a:r>
            <a:endParaRPr lang="en-US" sz="1600" dirty="0"/>
          </a:p>
        </p:txBody>
      </p:sp>
      <p:sp>
        <p:nvSpPr>
          <p:cNvPr id="9" name="Text 7"/>
          <p:cNvSpPr/>
          <p:nvPr/>
        </p:nvSpPr>
        <p:spPr>
          <a:xfrm>
            <a:off x="5791288" y="3037973"/>
            <a:ext cx="5755640" cy="2386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4A36"/>
                </a:solidFill>
                <a:latin typeface="Roboto" pitchFamily="34" charset="0"/>
                <a:ea typeface="Roboto" pitchFamily="34" charset="-122"/>
                <a:cs typeface="Roboto" pitchFamily="34" charset="-120"/>
              </a:rPr>
              <a:t>Requisitos e regras de negócio</a:t>
            </a:r>
            <a:endParaRPr lang="en-US" sz="1200" dirty="0"/>
          </a:p>
        </p:txBody>
      </p:sp>
      <p:sp>
        <p:nvSpPr>
          <p:cNvPr id="10" name="Shape 8"/>
          <p:cNvSpPr/>
          <p:nvPr/>
        </p:nvSpPr>
        <p:spPr>
          <a:xfrm>
            <a:off x="5791288" y="3409888"/>
            <a:ext cx="5588000" cy="0"/>
          </a:xfrm>
          <a:prstGeom prst="line">
            <a:avLst/>
          </a:prstGeom>
          <a:noFill/>
          <a:ln w="12700">
            <a:solidFill>
              <a:srgbClr val="123524"/>
            </a:solidFill>
            <a:prstDash val="solid"/>
          </a:ln>
        </p:spPr>
      </p:sp>
      <p:sp>
        <p:nvSpPr>
          <p:cNvPr id="11" name="Text 9"/>
          <p:cNvSpPr/>
          <p:nvPr/>
        </p:nvSpPr>
        <p:spPr>
          <a:xfrm>
            <a:off x="5791288" y="3537595"/>
            <a:ext cx="5755640"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23524"/>
                </a:solidFill>
                <a:latin typeface="Roboto" pitchFamily="34" charset="0"/>
                <a:ea typeface="Roboto" pitchFamily="34" charset="-122"/>
                <a:cs typeface="Roboto" pitchFamily="34" charset="-120"/>
              </a:rPr>
              <a:t>Wesley e Gabriel Marini (Teto)</a:t>
            </a:r>
            <a:endParaRPr lang="en-US" sz="1600" dirty="0"/>
          </a:p>
        </p:txBody>
      </p:sp>
      <p:sp>
        <p:nvSpPr>
          <p:cNvPr id="12" name="Text 10"/>
          <p:cNvSpPr/>
          <p:nvPr/>
        </p:nvSpPr>
        <p:spPr>
          <a:xfrm>
            <a:off x="5791288" y="3847374"/>
            <a:ext cx="5755640" cy="2386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4A36"/>
                </a:solidFill>
                <a:latin typeface="Roboto" pitchFamily="34" charset="0"/>
                <a:ea typeface="Roboto" pitchFamily="34" charset="-122"/>
                <a:cs typeface="Roboto" pitchFamily="34" charset="-120"/>
              </a:rPr>
              <a:t>UI/UX e prototipagem</a:t>
            </a:r>
            <a:endParaRPr lang="en-US" sz="1200" dirty="0"/>
          </a:p>
        </p:txBody>
      </p:sp>
      <p:sp>
        <p:nvSpPr>
          <p:cNvPr id="13" name="Shape 11"/>
          <p:cNvSpPr/>
          <p:nvPr/>
        </p:nvSpPr>
        <p:spPr>
          <a:xfrm>
            <a:off x="5791288" y="4219290"/>
            <a:ext cx="5588000" cy="0"/>
          </a:xfrm>
          <a:prstGeom prst="line">
            <a:avLst/>
          </a:prstGeom>
          <a:noFill/>
          <a:ln w="12700">
            <a:solidFill>
              <a:srgbClr val="123524"/>
            </a:solidFill>
            <a:prstDash val="solid"/>
          </a:ln>
        </p:spPr>
      </p:sp>
      <p:sp>
        <p:nvSpPr>
          <p:cNvPr id="14" name="Text 12"/>
          <p:cNvSpPr/>
          <p:nvPr/>
        </p:nvSpPr>
        <p:spPr>
          <a:xfrm>
            <a:off x="5791288" y="4346997"/>
            <a:ext cx="5755640"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23524"/>
                </a:solidFill>
                <a:latin typeface="Roboto" pitchFamily="34" charset="0"/>
                <a:ea typeface="Roboto" pitchFamily="34" charset="-122"/>
                <a:cs typeface="Roboto" pitchFamily="34" charset="-120"/>
              </a:rPr>
              <a:t>Gabriel (Pegador) e Eduardo (Du)</a:t>
            </a:r>
            <a:endParaRPr lang="en-US" sz="1600" dirty="0"/>
          </a:p>
        </p:txBody>
      </p:sp>
      <p:sp>
        <p:nvSpPr>
          <p:cNvPr id="15" name="Text 13"/>
          <p:cNvSpPr/>
          <p:nvPr/>
        </p:nvSpPr>
        <p:spPr>
          <a:xfrm>
            <a:off x="5791288" y="4656782"/>
            <a:ext cx="5755640" cy="2386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4A36"/>
                </a:solidFill>
                <a:latin typeface="Roboto" pitchFamily="34" charset="0"/>
                <a:ea typeface="Roboto" pitchFamily="34" charset="-122"/>
                <a:cs typeface="Roboto" pitchFamily="34" charset="-120"/>
              </a:rPr>
              <a:t>Arquitetura e banco de dados</a:t>
            </a:r>
            <a:endParaRPr lang="en-US" sz="1200" dirty="0"/>
          </a:p>
        </p:txBody>
      </p:sp>
      <p:sp>
        <p:nvSpPr>
          <p:cNvPr id="16" name="Text 14"/>
          <p:cNvSpPr/>
          <p:nvPr/>
        </p:nvSpPr>
        <p:spPr>
          <a:xfrm>
            <a:off x="812712" y="6238435"/>
            <a:ext cx="7848600" cy="2386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4A36"/>
                </a:solidFill>
                <a:latin typeface="Roboto" pitchFamily="34" charset="0"/>
                <a:ea typeface="Roboto" pitchFamily="34" charset="-122"/>
                <a:cs typeface="Roboto" pitchFamily="34" charset="-120"/>
              </a:rPr>
              <a:t>FATEC Olímpia · Desenvolvimento de Software Multiplataforma · 2026</a:t>
            </a:r>
            <a:endParaRPr lang="en-US" sz="1200" dirty="0"/>
          </a:p>
        </p:txBody>
      </p:sp>
      <p:sp>
        <p:nvSpPr>
          <p:cNvPr id="17" name="Text 15"/>
          <p:cNvSpPr/>
          <p:nvPr/>
        </p:nvSpPr>
        <p:spPr>
          <a:xfrm>
            <a:off x="10566488" y="6238435"/>
            <a:ext cx="812800" cy="2386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2B4A36"/>
                </a:solidFill>
                <a:latin typeface="Roboto" pitchFamily="34" charset="0"/>
                <a:ea typeface="Roboto" pitchFamily="34" charset="-122"/>
                <a:cs typeface="Roboto" pitchFamily="34" charset="-120"/>
              </a:rPr>
              <a:t>10</a:t>
            </a:r>
            <a:endParaRPr lang="en-US" sz="1200" dirty="0"/>
          </a:p>
        </p:txBody>
      </p:sp>
    </p:spTree>
  </p:cSld>
  <p:clrMapOvr>
    <a:masterClrMapping/>
  </p:clrMapOvr>
</p:sld>
</file>

<file path=ppt/theme/theme1.xml><?xml version="1.0" encoding="utf-8"?>
<a:theme xmlns:a="http://schemas.openxmlformats.org/drawingml/2006/main" name="Apresentação Etapa 1 · MatchPoint">
  <a:themeElements>
    <a:clrScheme name="Apresentação Etapa 1 · MatchPoint">
      <a:dk1>
        <a:srgbClr val="123524"/>
      </a:dk1>
      <a:lt1>
        <a:srgbClr val="F3F5EE"/>
      </a:lt1>
      <a:dk2>
        <a:srgbClr val="4A6557"/>
      </a:dk2>
      <a:lt2>
        <a:srgbClr val="DDE2DA"/>
      </a:lt2>
      <a:accent1>
        <a:srgbClr val="1F6F43"/>
      </a:accent1>
      <a:accent2>
        <a:srgbClr val="D7F05A"/>
      </a:accent2>
      <a:accent3>
        <a:srgbClr val="9A3B2E"/>
      </a:accent3>
      <a:accent4>
        <a:srgbClr val="3E4A43"/>
      </a:accent4>
      <a:accent5>
        <a:srgbClr val="5F6B63"/>
      </a:accent5>
      <a:accent6>
        <a:srgbClr val="C9D8CC"/>
      </a:accent6>
      <a:hlink>
        <a:srgbClr val="0563C1"/>
      </a:hlink>
      <a:folHlink>
        <a:srgbClr val="954F72"/>
      </a:folHlink>
    </a:clrScheme>
    <a:fontScheme name="Apresentação Etapa 1 · MatchPoint">
      <a:majorFont>
        <a:latin typeface="Oswa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Etapa 1 · MatchPoint</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Roboto
Copyright 2011 The Roboto Project Authors (https://github.com/googlefonts/roboto-classic)
This Font Software is licensed under the SIL Open Font License, Version 1.1.
This license is copied below, and is also available with a FAQ at:
https://openfontlicense.org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Oswald
Copyright 2016 The Oswald Project Authors (https://github.com/googlefonts/OswaldFont)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2026-10-23T13:55:53Z</dcterms:created>
  <dcterms:modified xsi:type="dcterms:W3CDTF">2026-10-23T13:55:53Z</dcterms:modified>
</cp:coreProperties>
</file>